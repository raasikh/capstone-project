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256" r:id="rId5"/>
    <p:sldId id="400" r:id="rId6"/>
    <p:sldId id="406" r:id="rId7"/>
    <p:sldId id="415" r:id="rId8"/>
    <p:sldId id="403" r:id="rId9"/>
    <p:sldId id="417" r:id="rId10"/>
    <p:sldId id="419" r:id="rId11"/>
    <p:sldId id="420" r:id="rId12"/>
    <p:sldId id="429" r:id="rId13"/>
    <p:sldId id="430" r:id="rId14"/>
    <p:sldId id="421" r:id="rId15"/>
    <p:sldId id="423" r:id="rId16"/>
    <p:sldId id="424" r:id="rId17"/>
    <p:sldId id="425" r:id="rId18"/>
    <p:sldId id="433" r:id="rId19"/>
    <p:sldId id="431" r:id="rId20"/>
    <p:sldId id="426" r:id="rId21"/>
    <p:sldId id="434" r:id="rId22"/>
    <p:sldId id="437" r:id="rId23"/>
    <p:sldId id="448" r:id="rId24"/>
    <p:sldId id="445" r:id="rId25"/>
    <p:sldId id="446" r:id="rId26"/>
    <p:sldId id="447" r:id="rId27"/>
    <p:sldId id="436" r:id="rId28"/>
    <p:sldId id="450" r:id="rId29"/>
    <p:sldId id="438" r:id="rId30"/>
    <p:sldId id="439" r:id="rId31"/>
    <p:sldId id="440" r:id="rId32"/>
    <p:sldId id="441" r:id="rId33"/>
    <p:sldId id="442" r:id="rId34"/>
    <p:sldId id="444" r:id="rId35"/>
    <p:sldId id="449" r:id="rId36"/>
    <p:sldId id="435" r:id="rId37"/>
    <p:sldId id="44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86662"/>
  </p:normalViewPr>
  <p:slideViewPr>
    <p:cSldViewPr snapToGrid="0" snapToObjects="1">
      <p:cViewPr varScale="1">
        <p:scale>
          <a:sx n="71" d="100"/>
          <a:sy n="71" d="100"/>
        </p:scale>
        <p:origin x="1138" y="62"/>
      </p:cViewPr>
      <p:guideLst/>
    </p:cSldViewPr>
  </p:slideViewPr>
  <p:outlineViewPr>
    <p:cViewPr>
      <p:scale>
        <a:sx n="33" d="100"/>
        <a:sy n="33" d="100"/>
      </p:scale>
      <p:origin x="0" y="-848"/>
    </p:cViewPr>
  </p:outlineViewPr>
  <p:notesTextViewPr>
    <p:cViewPr>
      <p:scale>
        <a:sx n="1" d="1"/>
        <a:sy n="1" d="1"/>
      </p:scale>
      <p:origin x="0" y="0"/>
    </p:cViewPr>
  </p:notesTextViewPr>
  <p:notesViewPr>
    <p:cSldViewPr snapToGrid="0" snapToObjects="1">
      <p:cViewPr varScale="1">
        <p:scale>
          <a:sx n="79" d="100"/>
          <a:sy n="79" d="100"/>
        </p:scale>
        <p:origin x="3528"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E549EA-A729-3D45-8B4D-22B7EBF5C6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7E04D-ECCF-9144-940C-119F342EF9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43F512-30E2-3F46-8010-5659AF98CC34}" type="datetimeFigureOut">
              <a:rPr lang="en-US" smtClean="0"/>
              <a:t>12/2/2024</a:t>
            </a:fld>
            <a:endParaRPr lang="en-US"/>
          </a:p>
        </p:txBody>
      </p:sp>
      <p:sp>
        <p:nvSpPr>
          <p:cNvPr id="4" name="Footer Placeholder 3">
            <a:extLst>
              <a:ext uri="{FF2B5EF4-FFF2-40B4-BE49-F238E27FC236}">
                <a16:creationId xmlns:a16="http://schemas.microsoft.com/office/drawing/2014/main" id="{AA0344F1-5767-0541-B208-C6A9788E8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76DBA68-A779-A547-8605-413DDCAEB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7A2CB1-9001-FD49-B675-3F6AB6B0DB25}" type="slidenum">
              <a:rPr lang="en-US" smtClean="0"/>
              <a:t>‹#›</a:t>
            </a:fld>
            <a:endParaRPr lang="en-US"/>
          </a:p>
        </p:txBody>
      </p:sp>
    </p:spTree>
    <p:extLst>
      <p:ext uri="{BB962C8B-B14F-4D97-AF65-F5344CB8AC3E}">
        <p14:creationId xmlns:p14="http://schemas.microsoft.com/office/powerpoint/2010/main" val="322108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E9FAA-CE99-9243-980C-708A50330DCB}"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6AF33-FE8D-0F43-AD85-A52C3F99EDA1}" type="slidenum">
              <a:rPr lang="en-US" smtClean="0"/>
              <a:t>‹#›</a:t>
            </a:fld>
            <a:endParaRPr lang="en-US"/>
          </a:p>
        </p:txBody>
      </p:sp>
    </p:spTree>
    <p:extLst>
      <p:ext uri="{BB962C8B-B14F-4D97-AF65-F5344CB8AC3E}">
        <p14:creationId xmlns:p14="http://schemas.microsoft.com/office/powerpoint/2010/main" val="37761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6AF33-FE8D-0F43-AD85-A52C3F99EDA1}" type="slidenum">
              <a:rPr lang="en-US" smtClean="0"/>
              <a:t>1</a:t>
            </a:fld>
            <a:endParaRPr lang="en-US"/>
          </a:p>
        </p:txBody>
      </p:sp>
    </p:spTree>
    <p:extLst>
      <p:ext uri="{BB962C8B-B14F-4D97-AF65-F5344CB8AC3E}">
        <p14:creationId xmlns:p14="http://schemas.microsoft.com/office/powerpoint/2010/main" val="345504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6AF33-FE8D-0F43-AD85-A52C3F99EDA1}" type="slidenum">
              <a:rPr lang="en-US" smtClean="0"/>
              <a:t>4</a:t>
            </a:fld>
            <a:endParaRPr lang="en-US"/>
          </a:p>
        </p:txBody>
      </p:sp>
    </p:spTree>
    <p:extLst>
      <p:ext uri="{BB962C8B-B14F-4D97-AF65-F5344CB8AC3E}">
        <p14:creationId xmlns:p14="http://schemas.microsoft.com/office/powerpoint/2010/main" val="2077755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566AF33-FE8D-0F43-AD85-A52C3F99EDA1}" type="slidenum">
              <a:rPr lang="en-US" smtClean="0"/>
              <a:t>7</a:t>
            </a:fld>
            <a:endParaRPr lang="en-US"/>
          </a:p>
        </p:txBody>
      </p:sp>
    </p:spTree>
    <p:extLst>
      <p:ext uri="{BB962C8B-B14F-4D97-AF65-F5344CB8AC3E}">
        <p14:creationId xmlns:p14="http://schemas.microsoft.com/office/powerpoint/2010/main" val="19827226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AFA-44D0-F744-8BDD-C2802771C1EF}"/>
              </a:ext>
            </a:extLst>
          </p:cNvPr>
          <p:cNvSpPr>
            <a:spLocks noGrp="1"/>
          </p:cNvSpPr>
          <p:nvPr>
            <p:ph type="ctrTitle" hasCustomPrompt="1"/>
          </p:nvPr>
        </p:nvSpPr>
        <p:spPr>
          <a:xfrm>
            <a:off x="1524000" y="2503487"/>
            <a:ext cx="9144000" cy="1006475"/>
          </a:xfrm>
        </p:spPr>
        <p:txBody>
          <a:bodyPr anchor="b"/>
          <a:lstStyle>
            <a:lvl1pPr algn="ctr">
              <a:defRPr sz="6000"/>
            </a:lvl1pPr>
          </a:lstStyle>
          <a:p>
            <a:r>
              <a:rPr lang="en-US" dirty="0"/>
              <a:t>Title of Presentation</a:t>
            </a:r>
          </a:p>
        </p:txBody>
      </p:sp>
      <p:sp>
        <p:nvSpPr>
          <p:cNvPr id="3" name="Subtitle 2">
            <a:extLst>
              <a:ext uri="{FF2B5EF4-FFF2-40B4-BE49-F238E27FC236}">
                <a16:creationId xmlns:a16="http://schemas.microsoft.com/office/drawing/2014/main" id="{B1ABA64A-8634-5140-B60F-09086C669D5C}"/>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Presenter’s Name</a:t>
            </a:r>
          </a:p>
          <a:p>
            <a:r>
              <a:rPr lang="en-US" dirty="0"/>
              <a:t>Title, Department</a:t>
            </a:r>
          </a:p>
          <a:p>
            <a:r>
              <a:rPr lang="en-US" dirty="0"/>
              <a:t>Date</a:t>
            </a:r>
          </a:p>
        </p:txBody>
      </p:sp>
      <p:sp>
        <p:nvSpPr>
          <p:cNvPr id="4" name="Date Placeholder 3">
            <a:extLst>
              <a:ext uri="{FF2B5EF4-FFF2-40B4-BE49-F238E27FC236}">
                <a16:creationId xmlns:a16="http://schemas.microsoft.com/office/drawing/2014/main" id="{A0E3B9D1-8415-1B44-B6D1-308A9D4A6CD9}"/>
              </a:ext>
            </a:extLst>
          </p:cNvPr>
          <p:cNvSpPr>
            <a:spLocks noGrp="1"/>
          </p:cNvSpPr>
          <p:nvPr>
            <p:ph type="dt" sz="half" idx="10"/>
          </p:nvPr>
        </p:nvSpPr>
        <p:spPr/>
        <p:txBody>
          <a:bodyPr/>
          <a:lstStyle/>
          <a:p>
            <a:fld id="{8254A545-610A-3246-BBF7-82AC132EB6A8}" type="datetimeFigureOut">
              <a:rPr lang="en-US" smtClean="0"/>
              <a:t>12/2/2024</a:t>
            </a:fld>
            <a:endParaRPr lang="en-US"/>
          </a:p>
        </p:txBody>
      </p:sp>
      <p:sp>
        <p:nvSpPr>
          <p:cNvPr id="5" name="Footer Placeholder 4">
            <a:extLst>
              <a:ext uri="{FF2B5EF4-FFF2-40B4-BE49-F238E27FC236}">
                <a16:creationId xmlns:a16="http://schemas.microsoft.com/office/drawing/2014/main" id="{1DF19443-4DC4-404B-8FFB-AAEF9ABDE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D4938-7FDF-B04D-A213-F8160A6F1A95}"/>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9" name="Picture 8" descr="The logo for Wichita State University." title="Wichita State University Logo">
            <a:extLst>
              <a:ext uri="{FF2B5EF4-FFF2-40B4-BE49-F238E27FC236}">
                <a16:creationId xmlns:a16="http://schemas.microsoft.com/office/drawing/2014/main" id="{1ADE4355-A3B2-6449-9D1C-9F7D8F17891B}"/>
              </a:ext>
            </a:extLst>
          </p:cNvPr>
          <p:cNvPicPr>
            <a:picLocks noChangeAspect="1"/>
          </p:cNvPicPr>
          <p:nvPr userDrawn="1"/>
        </p:nvPicPr>
        <p:blipFill>
          <a:blip r:embed="rId3"/>
          <a:stretch>
            <a:fillRect/>
          </a:stretch>
        </p:blipFill>
        <p:spPr>
          <a:xfrm>
            <a:off x="4001073" y="1192211"/>
            <a:ext cx="4189854" cy="965202"/>
          </a:xfrm>
          <a:prstGeom prst="rect">
            <a:avLst/>
          </a:prstGeom>
        </p:spPr>
      </p:pic>
    </p:spTree>
    <p:extLst>
      <p:ext uri="{BB962C8B-B14F-4D97-AF65-F5344CB8AC3E}">
        <p14:creationId xmlns:p14="http://schemas.microsoft.com/office/powerpoint/2010/main" val="193912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AE9C-BCE1-134F-9AA5-36AC0166BAB7}"/>
              </a:ext>
            </a:extLst>
          </p:cNvPr>
          <p:cNvSpPr>
            <a:spLocks noGrp="1"/>
          </p:cNvSpPr>
          <p:nvPr>
            <p:ph type="title" hasCustomPrompt="1"/>
          </p:nvPr>
        </p:nvSpPr>
        <p:spPr>
          <a:xfrm>
            <a:off x="2857500" y="300039"/>
            <a:ext cx="8503920" cy="957262"/>
          </a:xfrm>
        </p:spPr>
        <p:txBody>
          <a:bodyPr/>
          <a:lstStyle>
            <a:lvl1pPr>
              <a:defRPr>
                <a:solidFill>
                  <a:schemeClr val="bg1"/>
                </a:solidFill>
              </a:defRPr>
            </a:lvl1pPr>
          </a:lstStyle>
          <a:p>
            <a:r>
              <a:rPr lang="en-US" dirty="0"/>
              <a:t>1-Column Slide</a:t>
            </a:r>
          </a:p>
        </p:txBody>
      </p:sp>
      <p:sp>
        <p:nvSpPr>
          <p:cNvPr id="3" name="Content Placeholder 2">
            <a:extLst>
              <a:ext uri="{FF2B5EF4-FFF2-40B4-BE49-F238E27FC236}">
                <a16:creationId xmlns:a16="http://schemas.microsoft.com/office/drawing/2014/main" id="{5052DADA-DA3F-374B-8A2B-B0B5F1A463F1}"/>
              </a:ext>
            </a:extLst>
          </p:cNvPr>
          <p:cNvSpPr>
            <a:spLocks noGrp="1"/>
          </p:cNvSpPr>
          <p:nvPr>
            <p:ph idx="1" hasCustomPrompt="1"/>
          </p:nvPr>
        </p:nvSpPr>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B57CC7-E80B-4E43-9A8C-58FE70FDAF35}"/>
              </a:ext>
            </a:extLst>
          </p:cNvPr>
          <p:cNvSpPr>
            <a:spLocks noGrp="1"/>
          </p:cNvSpPr>
          <p:nvPr>
            <p:ph type="dt" sz="half" idx="10"/>
          </p:nvPr>
        </p:nvSpPr>
        <p:spPr/>
        <p:txBody>
          <a:bodyPr/>
          <a:lstStyle/>
          <a:p>
            <a:fld id="{8254A545-610A-3246-BBF7-82AC132EB6A8}" type="datetimeFigureOut">
              <a:rPr lang="en-US" smtClean="0"/>
              <a:t>12/2/2024</a:t>
            </a:fld>
            <a:endParaRPr lang="en-US"/>
          </a:p>
        </p:txBody>
      </p:sp>
      <p:sp>
        <p:nvSpPr>
          <p:cNvPr id="5" name="Footer Placeholder 4">
            <a:extLst>
              <a:ext uri="{FF2B5EF4-FFF2-40B4-BE49-F238E27FC236}">
                <a16:creationId xmlns:a16="http://schemas.microsoft.com/office/drawing/2014/main" id="{06D4C005-7FB8-3D4C-96BE-CD8E4D136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0C98-1C77-A04F-96D7-2FB871DF47C4}"/>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33B1789B-D0E4-4F47-8C64-CCCFE5CB8907}"/>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49745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DA10-D4F1-1246-AC76-4E99217B7F15}"/>
              </a:ext>
            </a:extLst>
          </p:cNvPr>
          <p:cNvSpPr>
            <a:spLocks noGrp="1"/>
          </p:cNvSpPr>
          <p:nvPr>
            <p:ph type="title" hasCustomPrompt="1"/>
          </p:nvPr>
        </p:nvSpPr>
        <p:spPr>
          <a:xfrm>
            <a:off x="2857500" y="301752"/>
            <a:ext cx="8503920" cy="960120"/>
          </a:xfrm>
        </p:spPr>
        <p:txBody>
          <a:bodyPr/>
          <a:lstStyle>
            <a:lvl1pPr>
              <a:defRPr>
                <a:solidFill>
                  <a:schemeClr val="bg1"/>
                </a:solidFill>
              </a:defRPr>
            </a:lvl1pPr>
          </a:lstStyle>
          <a:p>
            <a:r>
              <a:rPr lang="en-US" dirty="0"/>
              <a:t>2-Column Slide</a:t>
            </a:r>
          </a:p>
        </p:txBody>
      </p:sp>
      <p:sp>
        <p:nvSpPr>
          <p:cNvPr id="3" name="Content Placeholder 2">
            <a:extLst>
              <a:ext uri="{FF2B5EF4-FFF2-40B4-BE49-F238E27FC236}">
                <a16:creationId xmlns:a16="http://schemas.microsoft.com/office/drawing/2014/main" id="{7AB7A247-7DFC-E446-938A-2CA021AE3EDD}"/>
              </a:ext>
            </a:extLst>
          </p:cNvPr>
          <p:cNvSpPr>
            <a:spLocks noGrp="1"/>
          </p:cNvSpPr>
          <p:nvPr>
            <p:ph sz="half" idx="1" hasCustomPrompt="1"/>
          </p:nvPr>
        </p:nvSpPr>
        <p:spPr>
          <a:xfrm>
            <a:off x="838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B5206B-3FC0-CE41-90B0-155B2B1C6F2F}"/>
              </a:ext>
            </a:extLst>
          </p:cNvPr>
          <p:cNvSpPr>
            <a:spLocks noGrp="1"/>
          </p:cNvSpPr>
          <p:nvPr>
            <p:ph sz="half" idx="2" hasCustomPrompt="1"/>
          </p:nvPr>
        </p:nvSpPr>
        <p:spPr>
          <a:xfrm>
            <a:off x="6172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DF86D33-CD83-4040-BB1F-306A4D9B8E6E}"/>
              </a:ext>
            </a:extLst>
          </p:cNvPr>
          <p:cNvSpPr>
            <a:spLocks noGrp="1"/>
          </p:cNvSpPr>
          <p:nvPr>
            <p:ph type="dt" sz="half" idx="10"/>
          </p:nvPr>
        </p:nvSpPr>
        <p:spPr/>
        <p:txBody>
          <a:bodyPr/>
          <a:lstStyle/>
          <a:p>
            <a:fld id="{8254A545-610A-3246-BBF7-82AC132EB6A8}" type="datetimeFigureOut">
              <a:rPr lang="en-US" smtClean="0"/>
              <a:t>12/2/2024</a:t>
            </a:fld>
            <a:endParaRPr lang="en-US"/>
          </a:p>
        </p:txBody>
      </p:sp>
      <p:sp>
        <p:nvSpPr>
          <p:cNvPr id="6" name="Footer Placeholder 5">
            <a:extLst>
              <a:ext uri="{FF2B5EF4-FFF2-40B4-BE49-F238E27FC236}">
                <a16:creationId xmlns:a16="http://schemas.microsoft.com/office/drawing/2014/main" id="{E4CB5D88-544F-964C-84FC-051762122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67E06-089A-6846-8B48-B3A0F23DC958}"/>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BC3239E5-4689-FA43-AAF6-CE4F83EE41AC}"/>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18069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0318-CC45-A342-AEE3-670F36387ECF}"/>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Divider Slide</a:t>
            </a:r>
          </a:p>
        </p:txBody>
      </p:sp>
      <p:sp>
        <p:nvSpPr>
          <p:cNvPr id="3" name="Text Placeholder 2">
            <a:extLst>
              <a:ext uri="{FF2B5EF4-FFF2-40B4-BE49-F238E27FC236}">
                <a16:creationId xmlns:a16="http://schemas.microsoft.com/office/drawing/2014/main" id="{DAA57E59-4F7B-3B4C-B9E7-67DE80EDB61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Or Alternative Title Slide</a:t>
            </a:r>
          </a:p>
        </p:txBody>
      </p:sp>
      <p:sp>
        <p:nvSpPr>
          <p:cNvPr id="4" name="Date Placeholder 3">
            <a:extLst>
              <a:ext uri="{FF2B5EF4-FFF2-40B4-BE49-F238E27FC236}">
                <a16:creationId xmlns:a16="http://schemas.microsoft.com/office/drawing/2014/main" id="{0A8DE7E8-47E7-104E-BF54-359C263C9962}"/>
              </a:ext>
            </a:extLst>
          </p:cNvPr>
          <p:cNvSpPr>
            <a:spLocks noGrp="1"/>
          </p:cNvSpPr>
          <p:nvPr>
            <p:ph type="dt" sz="half" idx="10"/>
          </p:nvPr>
        </p:nvSpPr>
        <p:spPr/>
        <p:txBody>
          <a:bodyPr/>
          <a:lstStyle/>
          <a:p>
            <a:fld id="{8254A545-610A-3246-BBF7-82AC132EB6A8}" type="datetimeFigureOut">
              <a:rPr lang="en-US" smtClean="0"/>
              <a:t>12/2/2024</a:t>
            </a:fld>
            <a:endParaRPr lang="en-US"/>
          </a:p>
        </p:txBody>
      </p:sp>
      <p:sp>
        <p:nvSpPr>
          <p:cNvPr id="5" name="Footer Placeholder 4">
            <a:extLst>
              <a:ext uri="{FF2B5EF4-FFF2-40B4-BE49-F238E27FC236}">
                <a16:creationId xmlns:a16="http://schemas.microsoft.com/office/drawing/2014/main" id="{7F2DE16E-EEEB-F04D-B629-FBE01C97F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47F99-D730-2641-86EF-84BCC74BAAFB}"/>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7" name="Picture 6" descr="&quot;WSU&quot; logo for Wichita State University." title="WSU Logo">
            <a:extLst>
              <a:ext uri="{FF2B5EF4-FFF2-40B4-BE49-F238E27FC236}">
                <a16:creationId xmlns:a16="http://schemas.microsoft.com/office/drawing/2014/main" id="{0747E5A0-53E7-3649-A4F4-D53323CF508A}"/>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289550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E8205-8020-9E43-BDC9-8F0646FB4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AD0D22-4086-394C-A571-C6BB444D3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3091FC-EF27-E34B-B5FE-194D933C9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4A545-610A-3246-BBF7-82AC132EB6A8}" type="datetimeFigureOut">
              <a:rPr lang="en-US" smtClean="0"/>
              <a:t>12/2/2024</a:t>
            </a:fld>
            <a:endParaRPr lang="en-US"/>
          </a:p>
        </p:txBody>
      </p:sp>
      <p:sp>
        <p:nvSpPr>
          <p:cNvPr id="5" name="Footer Placeholder 4">
            <a:extLst>
              <a:ext uri="{FF2B5EF4-FFF2-40B4-BE49-F238E27FC236}">
                <a16:creationId xmlns:a16="http://schemas.microsoft.com/office/drawing/2014/main" id="{EB871301-3F06-5A49-A699-BBCBCEEE5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74BA5A-8069-9D49-A99F-3AD1783CE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47F3-F4BF-2C46-AC54-645A1178D8F6}" type="slidenum">
              <a:rPr lang="en-US" smtClean="0"/>
              <a:t>‹#›</a:t>
            </a:fld>
            <a:endParaRPr lang="en-US"/>
          </a:p>
        </p:txBody>
      </p:sp>
    </p:spTree>
    <p:extLst>
      <p:ext uri="{BB962C8B-B14F-4D97-AF65-F5344CB8AC3E}">
        <p14:creationId xmlns:p14="http://schemas.microsoft.com/office/powerpoint/2010/main" val="422648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edsource.org/2024/budget-cuts-begin-to-surface-at-california-state-university/718699" TargetMode="External"/><Relationship Id="rId2" Type="http://schemas.openxmlformats.org/officeDocument/2006/relationships/hyperlink" Target="https://www.michigandaily.com/news/academics/students-discuss-frustrations-long-waitlists-upper-level-computer-science-classes/"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B1D9-831F-0B44-B7DF-FF6D868378DC}"/>
              </a:ext>
            </a:extLst>
          </p:cNvPr>
          <p:cNvSpPr>
            <a:spLocks noGrp="1"/>
          </p:cNvSpPr>
          <p:nvPr>
            <p:ph type="ctrTitle"/>
          </p:nvPr>
        </p:nvSpPr>
        <p:spPr>
          <a:xfrm>
            <a:off x="1560251" y="2521404"/>
            <a:ext cx="8812015" cy="1815191"/>
          </a:xfrm>
        </p:spPr>
        <p:txBody>
          <a:bodyPr>
            <a:noAutofit/>
          </a:bodyPr>
          <a:lstStyle/>
          <a:p>
            <a:r>
              <a:rPr lang="en-US" sz="5400" b="1" dirty="0">
                <a:latin typeface="Times New Roman" panose="02020603050405020304" pitchFamily="18" charset="0"/>
                <a:cs typeface="Times New Roman" panose="02020603050405020304" pitchFamily="18" charset="0"/>
              </a:rPr>
              <a:t>The chronicles of Higher Education</a:t>
            </a:r>
          </a:p>
        </p:txBody>
      </p:sp>
      <p:sp>
        <p:nvSpPr>
          <p:cNvPr id="3" name="Subtitle 2">
            <a:extLst>
              <a:ext uri="{FF2B5EF4-FFF2-40B4-BE49-F238E27FC236}">
                <a16:creationId xmlns:a16="http://schemas.microsoft.com/office/drawing/2014/main" id="{55D4A66C-A4DF-4747-A9FD-A259C3C36C64}"/>
              </a:ext>
            </a:extLst>
          </p:cNvPr>
          <p:cNvSpPr>
            <a:spLocks noGrp="1"/>
          </p:cNvSpPr>
          <p:nvPr>
            <p:ph type="subTitle" idx="1"/>
          </p:nvPr>
        </p:nvSpPr>
        <p:spPr>
          <a:xfrm>
            <a:off x="8217243" y="4905632"/>
            <a:ext cx="3646788" cy="1370664"/>
          </a:xfrm>
        </p:spPr>
        <p:txBody>
          <a:bodyPr>
            <a:normAutofit/>
          </a:bodyPr>
          <a:lstStyle/>
          <a:p>
            <a:r>
              <a:rPr lang="en-US" dirty="0">
                <a:latin typeface="Times New Roman" panose="02020603050405020304" pitchFamily="18" charset="0"/>
                <a:cs typeface="Times New Roman" panose="02020603050405020304" pitchFamily="18" charset="0"/>
              </a:rPr>
              <a:t>Presenters Name</a:t>
            </a:r>
          </a:p>
          <a:p>
            <a:r>
              <a:rPr lang="en-US" dirty="0">
                <a:latin typeface="Times New Roman" panose="02020603050405020304" pitchFamily="18" charset="0"/>
                <a:cs typeface="Times New Roman" panose="02020603050405020304" pitchFamily="18" charset="0"/>
              </a:rPr>
              <a:t>Raasikh Naveed</a:t>
            </a:r>
          </a:p>
        </p:txBody>
      </p:sp>
      <p:sp>
        <p:nvSpPr>
          <p:cNvPr id="4" name="TextBox 3">
            <a:extLst>
              <a:ext uri="{FF2B5EF4-FFF2-40B4-BE49-F238E27FC236}">
                <a16:creationId xmlns:a16="http://schemas.microsoft.com/office/drawing/2014/main" id="{B2207502-58CC-8E08-2306-A7C540D53DDA}"/>
              </a:ext>
            </a:extLst>
          </p:cNvPr>
          <p:cNvSpPr txBox="1"/>
          <p:nvPr/>
        </p:nvSpPr>
        <p:spPr>
          <a:xfrm>
            <a:off x="570155" y="4958144"/>
            <a:ext cx="4255008"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CAPSTONE PROJECT</a:t>
            </a:r>
          </a:p>
          <a:p>
            <a:r>
              <a:rPr lang="en-US" dirty="0">
                <a:latin typeface="Times New Roman" panose="02020603050405020304" pitchFamily="18" charset="0"/>
                <a:cs typeface="Times New Roman" panose="02020603050405020304" pitchFamily="18" charset="0"/>
              </a:rPr>
              <a:t>Professor: Dr. Yan, Fujian</a:t>
            </a:r>
          </a:p>
          <a:p>
            <a:r>
              <a:rPr lang="en-US" dirty="0">
                <a:latin typeface="Times New Roman" panose="02020603050405020304" pitchFamily="18" charset="0"/>
                <a:cs typeface="Times New Roman" panose="02020603050405020304" pitchFamily="18" charset="0"/>
              </a:rPr>
              <a:t>Mentor: Jimmy </a:t>
            </a:r>
            <a:r>
              <a:rPr lang="en-US" dirty="0" err="1">
                <a:latin typeface="Times New Roman" panose="02020603050405020304" pitchFamily="18" charset="0"/>
                <a:cs typeface="Times New Roman" panose="02020603050405020304" pitchFamily="18" charset="0"/>
              </a:rPr>
              <a:t>Aschkar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80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3B2C-316E-F8BB-737B-DE797C8FC3A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2C7A052-2629-9A97-17DD-6C768A870A13}"/>
              </a:ext>
            </a:extLst>
          </p:cNvPr>
          <p:cNvSpPr>
            <a:spLocks noGrp="1"/>
          </p:cNvSpPr>
          <p:nvPr>
            <p:ph idx="1"/>
          </p:nvPr>
        </p:nvSpPr>
        <p:spPr>
          <a:xfrm>
            <a:off x="838199" y="1825625"/>
            <a:ext cx="10887635" cy="3779109"/>
          </a:xfrm>
        </p:spPr>
        <p:txBody>
          <a:bodyPr>
            <a:normAutofit/>
          </a:bodyPr>
          <a:lstStyle/>
          <a:p>
            <a:pPr>
              <a:buFont typeface="Wingdings" panose="05000000000000000000" pitchFamily="2" charset="2"/>
              <a:buChar char="v"/>
            </a:pPr>
            <a:r>
              <a:rPr lang="en-GB" dirty="0">
                <a:latin typeface="Dutch801 Rm BT" panose="02020603060505020304" pitchFamily="18" charset="0"/>
              </a:rPr>
              <a:t>Many students apply to numerous universities, hoping to increase their chances of getting into their dream school.</a:t>
            </a:r>
            <a:br>
              <a:rPr lang="en-GB" dirty="0">
                <a:latin typeface="Dutch801 Rm BT" panose="02020603060505020304" pitchFamily="18" charset="0"/>
              </a:rPr>
            </a:br>
            <a:endParaRPr lang="en-GB" dirty="0">
              <a:latin typeface="Dutch801 Rm BT" panose="02020603060505020304" pitchFamily="18" charset="0"/>
            </a:endParaRPr>
          </a:p>
          <a:p>
            <a:pPr algn="just">
              <a:buFont typeface="Wingdings" panose="05000000000000000000" pitchFamily="2" charset="2"/>
              <a:buChar char="v"/>
            </a:pPr>
            <a:endParaRPr lang="en-GB" dirty="0">
              <a:latin typeface="Dutch801 Rm BT" panose="02020603060505020304" pitchFamily="18" charset="0"/>
            </a:endParaRPr>
          </a:p>
          <a:p>
            <a:pPr>
              <a:buFont typeface="Wingdings" panose="05000000000000000000" pitchFamily="2" charset="2"/>
              <a:buChar char="v"/>
            </a:pPr>
            <a:r>
              <a:rPr lang="en-GB" dirty="0">
                <a:latin typeface="Dutch801 Rm BT" panose="02020603060505020304" pitchFamily="18" charset="0"/>
              </a:rPr>
              <a:t>Universities have specific enrolment criteria, admitting some students directly while placing others on a waiting list.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48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3A65-0C81-7C16-CC29-49BA6C44F53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EA9232F5-A8E2-9259-0EF3-719E0528236C}"/>
              </a:ext>
            </a:extLst>
          </p:cNvPr>
          <p:cNvSpPr>
            <a:spLocks noGrp="1"/>
          </p:cNvSpPr>
          <p:nvPr>
            <p:ph idx="1"/>
          </p:nvPr>
        </p:nvSpPr>
        <p:spPr/>
        <p:txBody>
          <a:bodyPr>
            <a:normAutofit/>
          </a:bodyPr>
          <a:lstStyle/>
          <a:p>
            <a:pPr marL="342900" indent="-342900">
              <a:buFont typeface="Wingdings" panose="05000000000000000000" pitchFamily="2" charset="2"/>
              <a:buChar char="v"/>
            </a:pPr>
            <a:r>
              <a:rPr lang="en-GB" dirty="0">
                <a:latin typeface="Dutch801 Rm BT" panose="02020603060505020304" pitchFamily="18" charset="0"/>
              </a:rPr>
              <a:t>In recent years, the number of university applicants has increased, raising the likelihood of gaining admission through the waitlist. </a:t>
            </a:r>
          </a:p>
          <a:p>
            <a:pPr marL="342900" indent="-342900">
              <a:buFont typeface="Wingdings" panose="05000000000000000000" pitchFamily="2" charset="2"/>
              <a:buChar char="v"/>
            </a:pPr>
            <a:endParaRPr lang="en-GB" dirty="0">
              <a:latin typeface="Dutch801 Rm BT" panose="02020603060505020304" pitchFamily="18" charset="0"/>
            </a:endParaRPr>
          </a:p>
          <a:p>
            <a:pPr marL="0" indent="0">
              <a:buNone/>
            </a:pPr>
            <a:endParaRPr lang="en-GB" dirty="0">
              <a:latin typeface="Dutch801 Rm BT" panose="02020603060505020304" pitchFamily="18" charset="0"/>
            </a:endParaRPr>
          </a:p>
          <a:p>
            <a:pPr marL="342900" indent="-342900">
              <a:buFont typeface="Wingdings" panose="05000000000000000000" pitchFamily="2" charset="2"/>
              <a:buChar char="v"/>
            </a:pPr>
            <a:r>
              <a:rPr lang="en-GB" dirty="0">
                <a:latin typeface="Dutch801 Rm BT" panose="02020603060505020304" pitchFamily="18" charset="0"/>
              </a:rPr>
              <a:t>This project aims to collect data from R1 universities over the past five years and </a:t>
            </a:r>
            <a:r>
              <a:rPr lang="en-GB" dirty="0" err="1">
                <a:latin typeface="Dutch801 Rm BT" panose="02020603060505020304" pitchFamily="18" charset="0"/>
              </a:rPr>
              <a:t>analyze</a:t>
            </a:r>
            <a:r>
              <a:rPr lang="en-GB" dirty="0">
                <a:latin typeface="Dutch801 Rm BT" panose="02020603060505020304" pitchFamily="18" charset="0"/>
              </a:rPr>
              <a:t> trends in the number of students offered from the waitlist. </a:t>
            </a:r>
          </a:p>
        </p:txBody>
      </p:sp>
    </p:spTree>
    <p:extLst>
      <p:ext uri="{BB962C8B-B14F-4D97-AF65-F5344CB8AC3E}">
        <p14:creationId xmlns:p14="http://schemas.microsoft.com/office/powerpoint/2010/main" val="410981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B5F5-A032-B595-F328-A903FFA85D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Collection</a:t>
            </a:r>
          </a:p>
        </p:txBody>
      </p:sp>
      <p:sp>
        <p:nvSpPr>
          <p:cNvPr id="3" name="Content Placeholder 2">
            <a:extLst>
              <a:ext uri="{FF2B5EF4-FFF2-40B4-BE49-F238E27FC236}">
                <a16:creationId xmlns:a16="http://schemas.microsoft.com/office/drawing/2014/main" id="{072AE2BF-7CB1-7097-1C5C-2EEFDB875FAC}"/>
              </a:ext>
            </a:extLst>
          </p:cNvPr>
          <p:cNvSpPr>
            <a:spLocks noGrp="1"/>
          </p:cNvSpPr>
          <p:nvPr>
            <p:ph idx="1"/>
          </p:nvPr>
        </p:nvSpPr>
        <p:spPr/>
        <p:txBody>
          <a:bodyPr/>
          <a:lstStyle/>
          <a:p>
            <a:pPr marL="342900" indent="-342900">
              <a:buFont typeface="Wingdings" panose="05000000000000000000" pitchFamily="2" charset="2"/>
              <a:buChar char="v"/>
            </a:pPr>
            <a:r>
              <a:rPr lang="en-GB" dirty="0">
                <a:latin typeface="Dutch801 Rm BT" panose="02020603060505020304" pitchFamily="18" charset="0"/>
              </a:rPr>
              <a:t>Data was collected from the past five years for R1 universities concerning the required variables. </a:t>
            </a:r>
          </a:p>
          <a:p>
            <a:pPr marL="342900" indent="-342900">
              <a:buFont typeface="Wingdings" panose="05000000000000000000" pitchFamily="2" charset="2"/>
              <a:buChar char="v"/>
            </a:pPr>
            <a:r>
              <a:rPr lang="en-GB" dirty="0">
                <a:latin typeface="Dutch801 Rm BT" panose="02020603060505020304" pitchFamily="18" charset="0"/>
              </a:rPr>
              <a:t>Out of 147 universities, 57 had records containing all the required information, although some entries had missing values that can be addressed in data processing steps. </a:t>
            </a:r>
          </a:p>
          <a:p>
            <a:pPr marL="342900" indent="-342900">
              <a:buFont typeface="Wingdings" panose="05000000000000000000" pitchFamily="2" charset="2"/>
              <a:buChar char="v"/>
            </a:pPr>
            <a:r>
              <a:rPr lang="en-GB" dirty="0">
                <a:latin typeface="Dutch801 Rm BT" panose="02020603060505020304" pitchFamily="18" charset="0"/>
              </a:rPr>
              <a:t>Meanwhile, 63 universities did not disclose their waiting list information, and 27 universities had missing information for at least three years.</a:t>
            </a:r>
          </a:p>
        </p:txBody>
      </p:sp>
    </p:spTree>
    <p:extLst>
      <p:ext uri="{BB962C8B-B14F-4D97-AF65-F5344CB8AC3E}">
        <p14:creationId xmlns:p14="http://schemas.microsoft.com/office/powerpoint/2010/main" val="241629147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B5F5-A032-B595-F328-A903FFA85D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072AE2BF-7CB1-7097-1C5C-2EEFDB875FAC}"/>
              </a:ext>
            </a:extLst>
          </p:cNvPr>
          <p:cNvSpPr>
            <a:spLocks noGrp="1"/>
          </p:cNvSpPr>
          <p:nvPr>
            <p:ph idx="1"/>
          </p:nvPr>
        </p:nvSpPr>
        <p:spPr/>
        <p:txBody>
          <a:bodyPr/>
          <a:lstStyle/>
          <a:p>
            <a:pPr marL="342900" indent="-342900">
              <a:buFont typeface="Wingdings" panose="05000000000000000000" pitchFamily="2" charset="2"/>
              <a:buChar char="v"/>
            </a:pPr>
            <a:r>
              <a:rPr lang="en-GB" dirty="0">
                <a:latin typeface="Dutch801 Rm BT" panose="02020603060505020304" pitchFamily="18" charset="0"/>
              </a:rPr>
              <a:t>The original dataset consisted of 147 rows and 3 columns, detailing all the R1 universities for which data should be collected. </a:t>
            </a:r>
          </a:p>
          <a:p>
            <a:pPr marL="342900" indent="-342900">
              <a:buFont typeface="Wingdings" panose="05000000000000000000" pitchFamily="2" charset="2"/>
              <a:buChar char="v"/>
            </a:pPr>
            <a:r>
              <a:rPr lang="en-GB" dirty="0">
                <a:latin typeface="Dutch801 Rm BT" panose="02020603060505020304" pitchFamily="18" charset="0"/>
              </a:rPr>
              <a:t>The new dataset has 287 rows and 5 columns</a:t>
            </a:r>
          </a:p>
          <a:p>
            <a:pPr marL="342900" indent="-342900">
              <a:buFont typeface="Wingdings" panose="05000000000000000000" pitchFamily="2" charset="2"/>
              <a:buChar char="v"/>
            </a:pPr>
            <a:endParaRPr lang="en-GB" dirty="0">
              <a:latin typeface="Dutch801 Rm BT" panose="020206030605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BFFD64E-55C4-EFD8-E2CB-2EAF3438DC7F}"/>
              </a:ext>
            </a:extLst>
          </p:cNvPr>
          <p:cNvGraphicFramePr>
            <a:graphicFrameLocks noGrp="1"/>
          </p:cNvGraphicFramePr>
          <p:nvPr>
            <p:extLst>
              <p:ext uri="{D42A27DB-BD31-4B8C-83A1-F6EECF244321}">
                <p14:modId xmlns:p14="http://schemas.microsoft.com/office/powerpoint/2010/main" val="1183502557"/>
              </p:ext>
            </p:extLst>
          </p:nvPr>
        </p:nvGraphicFramePr>
        <p:xfrm>
          <a:off x="537882" y="4010955"/>
          <a:ext cx="10628555" cy="991351"/>
        </p:xfrm>
        <a:graphic>
          <a:graphicData uri="http://schemas.openxmlformats.org/drawingml/2006/table">
            <a:tbl>
              <a:tblPr firstRow="1" bandRow="1">
                <a:tableStyleId>{F5AB1C69-6EDB-4FF4-983F-18BD219EF322}</a:tableStyleId>
              </a:tblPr>
              <a:tblGrid>
                <a:gridCol w="892885">
                  <a:extLst>
                    <a:ext uri="{9D8B030D-6E8A-4147-A177-3AD203B41FA5}">
                      <a16:colId xmlns:a16="http://schemas.microsoft.com/office/drawing/2014/main" val="3790164898"/>
                    </a:ext>
                  </a:extLst>
                </a:gridCol>
                <a:gridCol w="1914861">
                  <a:extLst>
                    <a:ext uri="{9D8B030D-6E8A-4147-A177-3AD203B41FA5}">
                      <a16:colId xmlns:a16="http://schemas.microsoft.com/office/drawing/2014/main" val="1873632269"/>
                    </a:ext>
                  </a:extLst>
                </a:gridCol>
                <a:gridCol w="2872292">
                  <a:extLst>
                    <a:ext uri="{9D8B030D-6E8A-4147-A177-3AD203B41FA5}">
                      <a16:colId xmlns:a16="http://schemas.microsoft.com/office/drawing/2014/main" val="3804828609"/>
                    </a:ext>
                  </a:extLst>
                </a:gridCol>
                <a:gridCol w="2861746">
                  <a:extLst>
                    <a:ext uri="{9D8B030D-6E8A-4147-A177-3AD203B41FA5}">
                      <a16:colId xmlns:a16="http://schemas.microsoft.com/office/drawing/2014/main" val="3507021160"/>
                    </a:ext>
                  </a:extLst>
                </a:gridCol>
                <a:gridCol w="2086771">
                  <a:extLst>
                    <a:ext uri="{9D8B030D-6E8A-4147-A177-3AD203B41FA5}">
                      <a16:colId xmlns:a16="http://schemas.microsoft.com/office/drawing/2014/main" val="2490959667"/>
                    </a:ext>
                  </a:extLst>
                </a:gridCol>
              </a:tblGrid>
              <a:tr h="991351">
                <a:tc>
                  <a:txBody>
                    <a:bodyPr/>
                    <a:lstStyle/>
                    <a:p>
                      <a:r>
                        <a:rPr lang="en-GB" sz="1400" dirty="0">
                          <a:solidFill>
                            <a:schemeClr val="tx1"/>
                          </a:solidFill>
                        </a:rPr>
                        <a:t>Years</a:t>
                      </a:r>
                    </a:p>
                  </a:txBody>
                  <a:tcPr/>
                </a:tc>
                <a:tc>
                  <a:txBody>
                    <a:bodyPr/>
                    <a:lstStyle/>
                    <a:p>
                      <a:r>
                        <a:rPr lang="en-GB" sz="1400" dirty="0">
                          <a:solidFill>
                            <a:schemeClr val="tx1"/>
                          </a:solidFill>
                          <a:latin typeface="Dutch801 Rm BT" panose="02020603060505020304" pitchFamily="18" charset="0"/>
                        </a:rPr>
                        <a:t>First time First-year applicants</a:t>
                      </a:r>
                      <a:endParaRPr lang="en-GB" sz="1400" dirty="0">
                        <a:solidFill>
                          <a:schemeClr val="tx1"/>
                        </a:solidFill>
                      </a:endParaRPr>
                    </a:p>
                  </a:txBody>
                  <a:tcPr/>
                </a:tc>
                <a:tc>
                  <a:txBody>
                    <a:bodyPr/>
                    <a:lstStyle/>
                    <a:p>
                      <a:r>
                        <a:rPr lang="en-GB" sz="1400" dirty="0">
                          <a:solidFill>
                            <a:schemeClr val="tx1"/>
                          </a:solidFill>
                          <a:latin typeface="Dutch801 Rm BT" panose="02020603060505020304" pitchFamily="18" charset="0"/>
                        </a:rPr>
                        <a:t>The number of applicants offered a place on the waiting list</a:t>
                      </a:r>
                      <a:endParaRPr lang="en-GB" sz="1400" dirty="0">
                        <a:solidFill>
                          <a:schemeClr val="tx1"/>
                        </a:solidFill>
                      </a:endParaRPr>
                    </a:p>
                  </a:txBody>
                  <a:tcPr/>
                </a:tc>
                <a:tc>
                  <a:txBody>
                    <a:bodyPr/>
                    <a:lstStyle/>
                    <a:p>
                      <a:r>
                        <a:rPr lang="en-GB" sz="1400" dirty="0">
                          <a:solidFill>
                            <a:schemeClr val="tx1"/>
                          </a:solidFill>
                          <a:latin typeface="Dutch801 Rm BT" panose="02020603060505020304" pitchFamily="18" charset="0"/>
                        </a:rPr>
                        <a:t>The number of students who accepted a place on the waiting list</a:t>
                      </a:r>
                      <a:endParaRPr lang="en-GB" sz="1400" dirty="0">
                        <a:solidFill>
                          <a:schemeClr val="tx1"/>
                        </a:solidFill>
                      </a:endParaRPr>
                    </a:p>
                  </a:txBody>
                  <a:tcPr/>
                </a:tc>
                <a:tc>
                  <a:txBody>
                    <a:bodyPr/>
                    <a:lstStyle/>
                    <a:p>
                      <a:r>
                        <a:rPr lang="en-GB" sz="1400" dirty="0">
                          <a:solidFill>
                            <a:schemeClr val="tx1"/>
                          </a:solidFill>
                          <a:latin typeface="Dutch801 Rm BT" panose="02020603060505020304" pitchFamily="18" charset="0"/>
                        </a:rPr>
                        <a:t>The number of students admitted from the waiting list</a:t>
                      </a:r>
                      <a:endParaRPr lang="en-GB" sz="1400" dirty="0">
                        <a:solidFill>
                          <a:schemeClr val="tx1"/>
                        </a:solidFill>
                      </a:endParaRPr>
                    </a:p>
                  </a:txBody>
                  <a:tcPr/>
                </a:tc>
                <a:extLst>
                  <a:ext uri="{0D108BD9-81ED-4DB2-BD59-A6C34878D82A}">
                    <a16:rowId xmlns:a16="http://schemas.microsoft.com/office/drawing/2014/main" val="1358428121"/>
                  </a:ext>
                </a:extLst>
              </a:tr>
            </a:tbl>
          </a:graphicData>
        </a:graphic>
      </p:graphicFrame>
    </p:spTree>
    <p:extLst>
      <p:ext uri="{BB962C8B-B14F-4D97-AF65-F5344CB8AC3E}">
        <p14:creationId xmlns:p14="http://schemas.microsoft.com/office/powerpoint/2010/main" val="237533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EA386-1CF3-ED00-68E0-329BF8F08AF6}"/>
              </a:ext>
            </a:extLst>
          </p:cNvPr>
          <p:cNvSpPr>
            <a:spLocks noGrp="1"/>
          </p:cNvSpPr>
          <p:nvPr>
            <p:ph type="title"/>
          </p:nvPr>
        </p:nvSpPr>
        <p:spPr/>
        <p:txBody>
          <a:bodyPr/>
          <a:lstStyle/>
          <a:p>
            <a:r>
              <a:rPr lang="en-GB" dirty="0"/>
              <a:t>Initial Goals</a:t>
            </a:r>
          </a:p>
        </p:txBody>
      </p:sp>
      <p:sp>
        <p:nvSpPr>
          <p:cNvPr id="3" name="Content Placeholder 2">
            <a:extLst>
              <a:ext uri="{FF2B5EF4-FFF2-40B4-BE49-F238E27FC236}">
                <a16:creationId xmlns:a16="http://schemas.microsoft.com/office/drawing/2014/main" id="{D6DDD7C0-3FB8-FC95-B585-5ACC8369C554}"/>
              </a:ext>
            </a:extLst>
          </p:cNvPr>
          <p:cNvSpPr>
            <a:spLocks noGrp="1"/>
          </p:cNvSpPr>
          <p:nvPr>
            <p:ph idx="1"/>
          </p:nvPr>
        </p:nvSpPr>
        <p:spPr/>
        <p:txBody>
          <a:bodyPr>
            <a:normAutofit lnSpcReduction="10000"/>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Percentage of the total applicant pool offered a place on the waiting list.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Dutch801 Rm BT" panose="020206030605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Percentage of applicants who accepted a place on the waiting list.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800" b="0" i="0" u="none" strike="noStrike" cap="none" normalizeH="0" baseline="0" dirty="0">
              <a:ln>
                <a:noFill/>
              </a:ln>
              <a:solidFill>
                <a:schemeClr val="tx1"/>
              </a:solidFill>
              <a:effectLst/>
              <a:latin typeface="Dutch801 Rm BT" panose="020206030605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Percentage of applicants admitted from the waiting list.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800" b="0" i="0" u="none" strike="noStrike" cap="none" normalizeH="0" baseline="0" dirty="0">
              <a:ln>
                <a:noFill/>
              </a:ln>
              <a:solidFill>
                <a:schemeClr val="tx1"/>
              </a:solidFill>
              <a:effectLst/>
              <a:latin typeface="Dutch801 Rm BT" panose="020206030605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Analyze the data to determine if there was an increase in the number of students offered a place on the waiting list, and those accepted from the waitlist, for 2020 compared to 2019 </a:t>
            </a:r>
          </a:p>
          <a:p>
            <a:endParaRPr lang="en-GB" dirty="0"/>
          </a:p>
        </p:txBody>
      </p:sp>
    </p:spTree>
    <p:extLst>
      <p:ext uri="{BB962C8B-B14F-4D97-AF65-F5344CB8AC3E}">
        <p14:creationId xmlns:p14="http://schemas.microsoft.com/office/powerpoint/2010/main" val="3096521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477024F-7AA0-D191-A97D-F98DFA9860C3}"/>
              </a:ext>
            </a:extLst>
          </p:cNvPr>
          <p:cNvSpPr>
            <a:spLocks noGrp="1"/>
          </p:cNvSpPr>
          <p:nvPr>
            <p:ph type="title"/>
          </p:nvPr>
        </p:nvSpPr>
        <p:spPr>
          <a:xfrm>
            <a:off x="2857500" y="301752"/>
            <a:ext cx="8503920" cy="960120"/>
          </a:xfrm>
        </p:spPr>
        <p:txBody>
          <a:bodyPr/>
          <a:lstStyle/>
          <a:p>
            <a:r>
              <a:rPr lang="en-US" dirty="0"/>
              <a:t>Results</a:t>
            </a:r>
          </a:p>
        </p:txBody>
      </p:sp>
      <p:sp>
        <p:nvSpPr>
          <p:cNvPr id="13" name="Content Placeholder 2">
            <a:extLst>
              <a:ext uri="{FF2B5EF4-FFF2-40B4-BE49-F238E27FC236}">
                <a16:creationId xmlns:a16="http://schemas.microsoft.com/office/drawing/2014/main" id="{130AD784-1E4C-5E7A-E7AB-BC4B8F0B9CEA}"/>
              </a:ext>
            </a:extLst>
          </p:cNvPr>
          <p:cNvSpPr>
            <a:spLocks noGrp="1"/>
          </p:cNvSpPr>
          <p:nvPr>
            <p:ph sz="half" idx="1"/>
          </p:nvPr>
        </p:nvSpPr>
        <p:spPr>
          <a:xfrm>
            <a:off x="838200" y="1825625"/>
            <a:ext cx="5181600" cy="4351338"/>
          </a:xfrm>
        </p:spPr>
        <p:txBody>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Dutch801 Rm BT" panose="02020603060505020304" pitchFamily="18" charset="0"/>
              </a:rPr>
              <a:t>Percentage of applicants admitted from the waiting list.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latin typeface="Dutch801 Rm BT" panose="02020603060505020304" pitchFamily="18" charset="0"/>
              </a:rPr>
              <a:t>2018: 14.28</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2019: 23.55</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latin typeface="Dutch801 Rm BT" panose="02020603060505020304" pitchFamily="18" charset="0"/>
              </a:rPr>
              <a:t>2020: 35.52</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Dutch801 Rm BT" panose="02020603060505020304" pitchFamily="18" charset="0"/>
              </a:rPr>
              <a:t>2021: 20.76</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latin typeface="Dutch801 Rm BT" panose="02020603060505020304" pitchFamily="18" charset="0"/>
              </a:rPr>
              <a:t>2022: 16.13</a:t>
            </a:r>
            <a:endParaRPr kumimoji="0" lang="en-US" altLang="en-US" sz="2800" b="0" i="0" u="none" strike="noStrike" cap="none" normalizeH="0" baseline="0" dirty="0">
              <a:ln>
                <a:noFill/>
              </a:ln>
              <a:solidFill>
                <a:schemeClr val="tx1"/>
              </a:solidFill>
              <a:effectLst/>
              <a:latin typeface="Dutch801 Rm BT" panose="02020603060505020304" pitchFamily="18" charset="0"/>
            </a:endParaRPr>
          </a:p>
        </p:txBody>
      </p:sp>
      <p:pic>
        <p:nvPicPr>
          <p:cNvPr id="6" name="Content Placeholder 5">
            <a:extLst>
              <a:ext uri="{FF2B5EF4-FFF2-40B4-BE49-F238E27FC236}">
                <a16:creationId xmlns:a16="http://schemas.microsoft.com/office/drawing/2014/main" id="{5B81A860-8085-7878-14B3-FA29F21BFF82}"/>
              </a:ext>
            </a:extLst>
          </p:cNvPr>
          <p:cNvPicPr>
            <a:picLocks noGrp="1" noChangeAspect="1"/>
          </p:cNvPicPr>
          <p:nvPr>
            <p:ph sz="half" idx="2"/>
          </p:nvPr>
        </p:nvPicPr>
        <p:blipFill>
          <a:blip r:embed="rId3"/>
          <a:stretch>
            <a:fillRect/>
          </a:stretch>
        </p:blipFill>
        <p:spPr>
          <a:xfrm>
            <a:off x="6841861" y="1648790"/>
            <a:ext cx="5120517" cy="4572000"/>
          </a:xfrm>
          <a:noFill/>
        </p:spPr>
      </p:pic>
    </p:spTree>
    <p:extLst>
      <p:ext uri="{BB962C8B-B14F-4D97-AF65-F5344CB8AC3E}">
        <p14:creationId xmlns:p14="http://schemas.microsoft.com/office/powerpoint/2010/main" val="375059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391C-C870-55B4-4065-55A7B80FDF76}"/>
              </a:ext>
            </a:extLst>
          </p:cNvPr>
          <p:cNvSpPr>
            <a:spLocks noGrp="1"/>
          </p:cNvSpPr>
          <p:nvPr>
            <p:ph type="title"/>
          </p:nvPr>
        </p:nvSpPr>
        <p:spPr/>
        <p:txBody>
          <a:bodyPr/>
          <a:lstStyle/>
          <a:p>
            <a:r>
              <a:rPr lang="en-GB" dirty="0"/>
              <a:t>Analysis</a:t>
            </a:r>
          </a:p>
        </p:txBody>
      </p:sp>
      <p:sp>
        <p:nvSpPr>
          <p:cNvPr id="3" name="Content Placeholder 2">
            <a:extLst>
              <a:ext uri="{FF2B5EF4-FFF2-40B4-BE49-F238E27FC236}">
                <a16:creationId xmlns:a16="http://schemas.microsoft.com/office/drawing/2014/main" id="{979CA9F7-2F30-398C-90B2-D8370CE3699B}"/>
              </a:ext>
            </a:extLst>
          </p:cNvPr>
          <p:cNvSpPr>
            <a:spLocks noGrp="1"/>
          </p:cNvSpPr>
          <p:nvPr>
            <p:ph sz="half" idx="1"/>
          </p:nvPr>
        </p:nvSpPr>
        <p:spPr>
          <a:xfrm>
            <a:off x="838199" y="1261872"/>
            <a:ext cx="11280922" cy="4915091"/>
          </a:xfrm>
        </p:spPr>
        <p:txBody>
          <a:bodyPr>
            <a:normAutofit/>
          </a:bodyPr>
          <a:lstStyle/>
          <a:p>
            <a:pPr marL="0" indent="0">
              <a:buNone/>
            </a:pPr>
            <a:endParaRPr lang="en-GB" dirty="0"/>
          </a:p>
          <a:p>
            <a:pPr marL="0" indent="0">
              <a:lnSpc>
                <a:spcPct val="70000"/>
              </a:lnSpc>
              <a:buNone/>
            </a:pPr>
            <a:r>
              <a:rPr kumimoji="0" lang="en-US" altLang="en-US" sz="2400" b="1" i="0" u="none" strike="noStrike" cap="none" normalizeH="0" baseline="0" dirty="0">
                <a:ln>
                  <a:noFill/>
                </a:ln>
                <a:solidFill>
                  <a:srgbClr val="000000"/>
                </a:solidFill>
                <a:effectLst/>
              </a:rPr>
              <a:t>Total Students Offered a Place on the Waiting List: </a:t>
            </a:r>
          </a:p>
          <a:p>
            <a:pPr marL="0" indent="0">
              <a:lnSpc>
                <a:spcPct val="70000"/>
              </a:lnSpc>
              <a:buNone/>
            </a:pPr>
            <a:r>
              <a:rPr kumimoji="0" lang="en-US" altLang="en-US" b="0" i="0" u="none" strike="noStrike" cap="none" normalizeH="0" baseline="0" dirty="0">
                <a:ln>
                  <a:noFill/>
                </a:ln>
                <a:solidFill>
                  <a:srgbClr val="000000"/>
                </a:solidFill>
                <a:effectLst/>
              </a:rPr>
              <a:t>2019: 243,036</a:t>
            </a:r>
          </a:p>
          <a:p>
            <a:pPr marL="0" indent="0">
              <a:lnSpc>
                <a:spcPct val="70000"/>
              </a:lnSpc>
              <a:buNone/>
            </a:pPr>
            <a:r>
              <a:rPr kumimoji="0" lang="en-US" altLang="en-US" b="0" i="0" u="none" strike="noStrike" cap="none" normalizeH="0" baseline="0" dirty="0">
                <a:ln>
                  <a:noFill/>
                </a:ln>
                <a:solidFill>
                  <a:srgbClr val="000000"/>
                </a:solidFill>
                <a:effectLst/>
              </a:rPr>
              <a:t>2020: 314,788 </a:t>
            </a:r>
          </a:p>
          <a:p>
            <a:pPr marL="0" indent="0">
              <a:lnSpc>
                <a:spcPct val="70000"/>
              </a:lnSpc>
              <a:buNone/>
            </a:pPr>
            <a:r>
              <a:rPr kumimoji="0" lang="en-US" altLang="en-US" b="0" i="0" u="none" strike="noStrike" cap="none" normalizeH="0" baseline="0" dirty="0">
                <a:ln>
                  <a:noFill/>
                </a:ln>
                <a:solidFill>
                  <a:srgbClr val="000000"/>
                </a:solidFill>
                <a:effectLst/>
              </a:rPr>
              <a:t>Increase: 71,752 </a:t>
            </a:r>
          </a:p>
          <a:p>
            <a:pPr marL="0" indent="0">
              <a:lnSpc>
                <a:spcPct val="70000"/>
              </a:lnSpc>
              <a:buNone/>
            </a:pPr>
            <a:r>
              <a:rPr lang="en-US" altLang="en-US" dirty="0">
                <a:solidFill>
                  <a:srgbClr val="000000"/>
                </a:solidFill>
              </a:rPr>
              <a:t>P</a:t>
            </a:r>
            <a:r>
              <a:rPr kumimoji="0" lang="en-US" altLang="en-US" b="0" i="0" u="none" strike="noStrike" cap="none" normalizeH="0" baseline="0" dirty="0">
                <a:ln>
                  <a:noFill/>
                </a:ln>
                <a:solidFill>
                  <a:srgbClr val="000000"/>
                </a:solidFill>
                <a:effectLst/>
              </a:rPr>
              <a:t>ercent Increase: 22.8%</a:t>
            </a:r>
          </a:p>
          <a:p>
            <a:pPr marL="0" indent="0">
              <a:lnSpc>
                <a:spcPct val="70000"/>
              </a:lnSpc>
              <a:buNone/>
            </a:pPr>
            <a:r>
              <a:rPr kumimoji="0" lang="en-US" altLang="en-US" sz="2400" b="1" i="0" u="none" strike="noStrike" cap="none" normalizeH="0" baseline="0" dirty="0">
                <a:ln>
                  <a:noFill/>
                </a:ln>
                <a:solidFill>
                  <a:srgbClr val="000000"/>
                </a:solidFill>
                <a:effectLst/>
              </a:rPr>
              <a:t>Total Students Admitted from the Waiting List: </a:t>
            </a:r>
          </a:p>
          <a:p>
            <a:pPr marL="0" indent="0">
              <a:lnSpc>
                <a:spcPct val="70000"/>
              </a:lnSpc>
              <a:buNone/>
            </a:pPr>
            <a:r>
              <a:rPr kumimoji="0" lang="en-US" altLang="en-US" b="0" i="0" u="none" strike="noStrike" cap="none" normalizeH="0" baseline="0" dirty="0">
                <a:ln>
                  <a:noFill/>
                </a:ln>
                <a:solidFill>
                  <a:srgbClr val="000000"/>
                </a:solidFill>
                <a:effectLst/>
              </a:rPr>
              <a:t>2019: 25,374 </a:t>
            </a:r>
          </a:p>
          <a:p>
            <a:pPr marL="0" indent="0">
              <a:lnSpc>
                <a:spcPct val="70000"/>
              </a:lnSpc>
              <a:buNone/>
            </a:pPr>
            <a:r>
              <a:rPr kumimoji="0" lang="en-US" altLang="en-US" b="0" i="0" u="none" strike="noStrike" cap="none" normalizeH="0" baseline="0" dirty="0">
                <a:ln>
                  <a:noFill/>
                </a:ln>
                <a:solidFill>
                  <a:srgbClr val="000000"/>
                </a:solidFill>
                <a:effectLst/>
              </a:rPr>
              <a:t>2020: 56,577 </a:t>
            </a:r>
          </a:p>
          <a:p>
            <a:pPr marL="0" indent="0">
              <a:lnSpc>
                <a:spcPct val="70000"/>
              </a:lnSpc>
              <a:buNone/>
            </a:pPr>
            <a:r>
              <a:rPr kumimoji="0" lang="en-US" altLang="en-US" b="0" i="0" u="none" strike="noStrike" cap="none" normalizeH="0" baseline="0" dirty="0">
                <a:ln>
                  <a:noFill/>
                </a:ln>
                <a:solidFill>
                  <a:srgbClr val="000000"/>
                </a:solidFill>
                <a:effectLst/>
              </a:rPr>
              <a:t>Increase: 31,203 </a:t>
            </a:r>
          </a:p>
          <a:p>
            <a:pPr marL="0" indent="0">
              <a:lnSpc>
                <a:spcPct val="70000"/>
              </a:lnSpc>
              <a:buNone/>
            </a:pPr>
            <a:r>
              <a:rPr lang="en-US" altLang="en-US" dirty="0">
                <a:solidFill>
                  <a:srgbClr val="000000"/>
                </a:solidFill>
              </a:rPr>
              <a:t>P</a:t>
            </a:r>
            <a:r>
              <a:rPr kumimoji="0" lang="en-US" altLang="en-US" b="0" i="0" u="none" strike="noStrike" cap="none" normalizeH="0" baseline="0" dirty="0">
                <a:ln>
                  <a:noFill/>
                </a:ln>
                <a:solidFill>
                  <a:srgbClr val="000000"/>
                </a:solidFill>
                <a:effectLst/>
              </a:rPr>
              <a:t>ercent Increase: 55.1%</a:t>
            </a:r>
            <a:endParaRPr kumimoji="0" lang="en-US" altLang="en-US" sz="5400" b="0" i="0" u="none" strike="noStrike" cap="none" normalizeH="0" baseline="0" dirty="0">
              <a:ln>
                <a:noFill/>
              </a:ln>
              <a:solidFill>
                <a:schemeClr val="tx1"/>
              </a:solidFill>
              <a:effectLst/>
            </a:endParaRPr>
          </a:p>
          <a:p>
            <a:endParaRPr lang="en-GB" dirty="0"/>
          </a:p>
        </p:txBody>
      </p:sp>
    </p:spTree>
    <p:extLst>
      <p:ext uri="{BB962C8B-B14F-4D97-AF65-F5344CB8AC3E}">
        <p14:creationId xmlns:p14="http://schemas.microsoft.com/office/powerpoint/2010/main" val="1418437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5778AAED-94F3-5CB1-B853-B16931992A02}"/>
              </a:ext>
            </a:extLst>
          </p:cNvPr>
          <p:cNvSpPr>
            <a:spLocks noGrp="1"/>
          </p:cNvSpPr>
          <p:nvPr>
            <p:ph type="title"/>
          </p:nvPr>
        </p:nvSpPr>
        <p:spPr>
          <a:xfrm>
            <a:off x="2857500" y="300039"/>
            <a:ext cx="8503920" cy="957262"/>
          </a:xfrm>
        </p:spPr>
        <p:txBody>
          <a:bodyPr/>
          <a:lstStyle/>
          <a:p>
            <a:r>
              <a:rPr lang="en-US" dirty="0"/>
              <a:t>Graph</a:t>
            </a:r>
          </a:p>
        </p:txBody>
      </p:sp>
      <p:pic>
        <p:nvPicPr>
          <p:cNvPr id="2050" name="Picture 2">
            <a:extLst>
              <a:ext uri="{FF2B5EF4-FFF2-40B4-BE49-F238E27FC236}">
                <a16:creationId xmlns:a16="http://schemas.microsoft.com/office/drawing/2014/main" id="{7FD822CF-F707-6DD1-5D1F-6A7FF0EACC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00710" y="1406076"/>
            <a:ext cx="8790579" cy="4351338"/>
          </a:xfrm>
          <a:prstGeom prst="rect">
            <a:avLst/>
          </a:prstGeom>
          <a:solidFill>
            <a:srgbClr val="FFFFFF"/>
          </a:solidFill>
        </p:spPr>
      </p:pic>
    </p:spTree>
    <p:extLst>
      <p:ext uri="{BB962C8B-B14F-4D97-AF65-F5344CB8AC3E}">
        <p14:creationId xmlns:p14="http://schemas.microsoft.com/office/powerpoint/2010/main" val="381254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4972-D22E-8E13-723F-038881FF1ED7}"/>
              </a:ext>
            </a:extLst>
          </p:cNvPr>
          <p:cNvSpPr>
            <a:spLocks noGrp="1"/>
          </p:cNvSpPr>
          <p:nvPr>
            <p:ph type="title"/>
          </p:nvPr>
        </p:nvSpPr>
        <p:spPr/>
        <p:txBody>
          <a:bodyPr/>
          <a:lstStyle/>
          <a:p>
            <a:r>
              <a:rPr lang="en-GB" dirty="0"/>
              <a:t>Reasons for this Increase</a:t>
            </a:r>
          </a:p>
        </p:txBody>
      </p:sp>
      <p:sp>
        <p:nvSpPr>
          <p:cNvPr id="3" name="Content Placeholder 2">
            <a:extLst>
              <a:ext uri="{FF2B5EF4-FFF2-40B4-BE49-F238E27FC236}">
                <a16:creationId xmlns:a16="http://schemas.microsoft.com/office/drawing/2014/main" id="{E6432D5B-459C-A360-0A0E-201B448A9D96}"/>
              </a:ext>
            </a:extLst>
          </p:cNvPr>
          <p:cNvSpPr>
            <a:spLocks noGrp="1"/>
          </p:cNvSpPr>
          <p:nvPr>
            <p:ph idx="1"/>
          </p:nvPr>
        </p:nvSpPr>
        <p:spPr/>
        <p:txBody>
          <a:bodyPr/>
          <a:lstStyle/>
          <a:p>
            <a:pPr>
              <a:buFont typeface="Wingdings" panose="05000000000000000000" pitchFamily="2" charset="2"/>
              <a:buChar char="v"/>
            </a:pPr>
            <a:r>
              <a:rPr lang="en-GB" dirty="0"/>
              <a:t>The COVID-19 pandemic led to increased uncertainty regarding admissions and enrolment. </a:t>
            </a:r>
          </a:p>
          <a:p>
            <a:pPr>
              <a:buFont typeface="Wingdings" panose="05000000000000000000" pitchFamily="2" charset="2"/>
              <a:buChar char="v"/>
            </a:pPr>
            <a:r>
              <a:rPr lang="en-GB" dirty="0"/>
              <a:t>Universities faced under-</a:t>
            </a:r>
            <a:r>
              <a:rPr lang="en-GB" dirty="0" err="1"/>
              <a:t>enrollment</a:t>
            </a:r>
            <a:r>
              <a:rPr lang="en-GB" dirty="0"/>
              <a:t> due to students deferring admission, choosing gap years, or attending closer to home.</a:t>
            </a:r>
          </a:p>
          <a:p>
            <a:pPr>
              <a:buFont typeface="Wingdings" panose="05000000000000000000" pitchFamily="2" charset="2"/>
              <a:buChar char="v"/>
            </a:pPr>
            <a:r>
              <a:rPr lang="en-GB" dirty="0"/>
              <a:t>This resulted in a larger reliance on waitlists to fill gaps caused by these fluctuations, leading to more students being offered, accepting, and ultimately admitted from the waitlist.</a:t>
            </a:r>
          </a:p>
        </p:txBody>
      </p:sp>
    </p:spTree>
    <p:extLst>
      <p:ext uri="{BB962C8B-B14F-4D97-AF65-F5344CB8AC3E}">
        <p14:creationId xmlns:p14="http://schemas.microsoft.com/office/powerpoint/2010/main" val="338375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E071-2AC5-F518-ABA9-E50C6CACC1EB}"/>
              </a:ext>
            </a:extLst>
          </p:cNvPr>
          <p:cNvSpPr>
            <a:spLocks noGrp="1"/>
          </p:cNvSpPr>
          <p:nvPr>
            <p:ph type="title"/>
          </p:nvPr>
        </p:nvSpPr>
        <p:spPr/>
        <p:txBody>
          <a:bodyPr/>
          <a:lstStyle/>
          <a:p>
            <a:r>
              <a:rPr lang="en-GB" dirty="0"/>
              <a:t>Classification</a:t>
            </a:r>
          </a:p>
        </p:txBody>
      </p:sp>
      <p:sp>
        <p:nvSpPr>
          <p:cNvPr id="3" name="Content Placeholder 2">
            <a:extLst>
              <a:ext uri="{FF2B5EF4-FFF2-40B4-BE49-F238E27FC236}">
                <a16:creationId xmlns:a16="http://schemas.microsoft.com/office/drawing/2014/main" id="{A80DB140-59ED-C1DC-2899-411EB2E9A0F8}"/>
              </a:ext>
            </a:extLst>
          </p:cNvPr>
          <p:cNvSpPr>
            <a:spLocks noGrp="1"/>
          </p:cNvSpPr>
          <p:nvPr>
            <p:ph sz="half" idx="1"/>
          </p:nvPr>
        </p:nvSpPr>
        <p:spPr>
          <a:xfrm>
            <a:off x="838200" y="1261872"/>
            <a:ext cx="10721622" cy="4915091"/>
          </a:xfrm>
        </p:spPr>
        <p:txBody>
          <a:bodyPr>
            <a:normAutofit/>
          </a:bodyPr>
          <a:lstStyle/>
          <a:p>
            <a:endParaRPr lang="en-GB" dirty="0"/>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Initial approach</a:t>
            </a:r>
            <a:r>
              <a:rPr lang="en-US" altLang="en-US" dirty="0">
                <a:latin typeface="Arial" panose="020B0604020202020204" pitchFamily="34" charset="0"/>
              </a:rPr>
              <a:t>:</a:t>
            </a:r>
            <a:r>
              <a:rPr kumimoji="0" lang="en-US" altLang="en-US" sz="2800" b="0" i="0" u="none" strike="noStrike" cap="none" normalizeH="0" baseline="0" dirty="0">
                <a:ln>
                  <a:noFill/>
                </a:ln>
                <a:solidFill>
                  <a:schemeClr val="tx1"/>
                </a:solidFill>
                <a:effectLst/>
                <a:latin typeface="Arial" panose="020B0604020202020204" pitchFamily="34" charset="0"/>
              </a:rPr>
              <a:t> Linear regression to understand variable relationships and make predictions.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Strategy: </a:t>
            </a:r>
            <a:r>
              <a:rPr kumimoji="0" lang="en-US" altLang="en-US" sz="2800" b="0" i="0" u="none" strike="noStrike" cap="none" normalizeH="0" baseline="0" dirty="0">
                <a:ln>
                  <a:noFill/>
                </a:ln>
                <a:solidFill>
                  <a:schemeClr val="tx1"/>
                </a:solidFill>
                <a:effectLst/>
                <a:latin typeface="Arial" panose="020B0604020202020204" pitchFamily="34" charset="0"/>
              </a:rPr>
              <a:t>Train model on first 4 years, predict 5th year, then forecast future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Goal: </a:t>
            </a:r>
            <a:r>
              <a:rPr kumimoji="0" lang="en-US" altLang="en-US" sz="2800" b="0" i="0" u="none" strike="noStrike" cap="none" normalizeH="0" baseline="0" dirty="0">
                <a:ln>
                  <a:noFill/>
                </a:ln>
                <a:solidFill>
                  <a:schemeClr val="tx1"/>
                </a:solidFill>
                <a:effectLst/>
                <a:latin typeface="Arial" panose="020B0604020202020204" pitchFamily="34" charset="0"/>
              </a:rPr>
              <a:t>Establish credibility for 4-year future predictions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Challenge: </a:t>
            </a:r>
            <a:r>
              <a:rPr kumimoji="0" lang="en-US" altLang="en-US" sz="2800" b="0" i="0" u="none" strike="noStrike" cap="none" normalizeH="0" baseline="0" dirty="0">
                <a:ln>
                  <a:noFill/>
                </a:ln>
                <a:solidFill>
                  <a:schemeClr val="tx1"/>
                </a:solidFill>
                <a:effectLst/>
                <a:latin typeface="Arial" panose="020B0604020202020204" pitchFamily="34" charset="0"/>
              </a:rPr>
              <a:t>Statistically insignificant values yielded poor indications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Attempt: </a:t>
            </a:r>
            <a:r>
              <a:rPr kumimoji="0" lang="en-US" altLang="en-US" sz="2800" b="0" i="0" u="none" strike="noStrike" cap="none" normalizeH="0" baseline="0" dirty="0">
                <a:ln>
                  <a:noFill/>
                </a:ln>
                <a:solidFill>
                  <a:schemeClr val="tx1"/>
                </a:solidFill>
                <a:effectLst/>
                <a:latin typeface="Arial" panose="020B0604020202020204" pitchFamily="34" charset="0"/>
              </a:rPr>
              <a:t>Explored various classification techniques without success </a:t>
            </a:r>
          </a:p>
          <a:p>
            <a:endParaRPr lang="en-GB" dirty="0"/>
          </a:p>
        </p:txBody>
      </p:sp>
    </p:spTree>
    <p:extLst>
      <p:ext uri="{BB962C8B-B14F-4D97-AF65-F5344CB8AC3E}">
        <p14:creationId xmlns:p14="http://schemas.microsoft.com/office/powerpoint/2010/main" val="1506379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8AFBF-E7C4-8F48-3D20-8F16045EC31E}"/>
              </a:ext>
            </a:extLst>
          </p:cNvPr>
          <p:cNvSpPr>
            <a:spLocks noGrp="1"/>
          </p:cNvSpPr>
          <p:nvPr>
            <p:ph type="title"/>
          </p:nvPr>
        </p:nvSpPr>
        <p:spPr/>
        <p:txBody>
          <a:bodyPr/>
          <a:lstStyle/>
          <a:p>
            <a:r>
              <a:rPr lang="en-GB" dirty="0"/>
              <a:t>Analysis</a:t>
            </a:r>
          </a:p>
        </p:txBody>
      </p:sp>
      <p:sp>
        <p:nvSpPr>
          <p:cNvPr id="3" name="Content Placeholder 2">
            <a:extLst>
              <a:ext uri="{FF2B5EF4-FFF2-40B4-BE49-F238E27FC236}">
                <a16:creationId xmlns:a16="http://schemas.microsoft.com/office/drawing/2014/main" id="{D796B542-6CEC-A95D-CDD7-DA1C65D662DD}"/>
              </a:ext>
            </a:extLst>
          </p:cNvPr>
          <p:cNvSpPr>
            <a:spLocks noGrp="1"/>
          </p:cNvSpPr>
          <p:nvPr>
            <p:ph sz="half" idx="1"/>
          </p:nvPr>
        </p:nvSpPr>
        <p:spPr>
          <a:xfrm>
            <a:off x="838200" y="1825625"/>
            <a:ext cx="10721622" cy="4351338"/>
          </a:xfrm>
        </p:spPr>
        <p:txBody>
          <a:bodyPr/>
          <a:lstStyle/>
          <a:p>
            <a:pPr marL="0" indent="0">
              <a:buNone/>
            </a:pPr>
            <a:r>
              <a:rPr lang="en-GB" dirty="0"/>
              <a:t>Capping the max value so the outlier doesn’t affect our final value.</a:t>
            </a:r>
          </a:p>
          <a:p>
            <a:pPr marL="0" indent="0">
              <a:buNone/>
            </a:pPr>
            <a:r>
              <a:rPr lang="en-GB" dirty="0"/>
              <a:t>Used 99% percentile.</a:t>
            </a:r>
          </a:p>
          <a:p>
            <a:pPr marL="0" indent="0">
              <a:buNone/>
            </a:pPr>
            <a:r>
              <a:rPr lang="en-GB" dirty="0"/>
              <a:t>                      </a:t>
            </a:r>
            <a:r>
              <a:rPr lang="en-GB" b="1" dirty="0"/>
              <a:t> Before                                                                   After</a:t>
            </a:r>
          </a:p>
          <a:p>
            <a:pPr marL="0" indent="0">
              <a:buNone/>
            </a:pPr>
            <a:r>
              <a:rPr lang="en-GB" b="1" dirty="0"/>
              <a:t>                                                                                             </a:t>
            </a:r>
          </a:p>
          <a:p>
            <a:pPr marL="0" indent="0">
              <a:buNone/>
            </a:pPr>
            <a:r>
              <a:rPr lang="en-GB" dirty="0"/>
              <a:t>                                                                                                         </a:t>
            </a:r>
          </a:p>
        </p:txBody>
      </p:sp>
      <p:sp>
        <p:nvSpPr>
          <p:cNvPr id="4" name="Rectangle 1">
            <a:extLst>
              <a:ext uri="{FF2B5EF4-FFF2-40B4-BE49-F238E27FC236}">
                <a16:creationId xmlns:a16="http://schemas.microsoft.com/office/drawing/2014/main" id="{D4035F61-0C2A-B865-77D3-C611105403A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1B139E23-9D27-E3D5-8CFB-245B908D48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2516" y="3429000"/>
            <a:ext cx="5352826" cy="2886866"/>
          </a:xfrm>
          <a:prstGeom prst="rect">
            <a:avLst/>
          </a:prstGeom>
          <a:noFill/>
          <a:ln>
            <a:noFill/>
          </a:ln>
        </p:spPr>
      </p:pic>
      <p:pic>
        <p:nvPicPr>
          <p:cNvPr id="6" name="Picture 5">
            <a:extLst>
              <a:ext uri="{FF2B5EF4-FFF2-40B4-BE49-F238E27FC236}">
                <a16:creationId xmlns:a16="http://schemas.microsoft.com/office/drawing/2014/main" id="{1FDBA4BB-8A49-F14C-3B97-5B74F9A834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65793" y="3365091"/>
            <a:ext cx="5529713" cy="2982264"/>
          </a:xfrm>
          <a:prstGeom prst="rect">
            <a:avLst/>
          </a:prstGeom>
          <a:noFill/>
          <a:ln>
            <a:noFill/>
          </a:ln>
        </p:spPr>
      </p:pic>
    </p:spTree>
    <p:extLst>
      <p:ext uri="{BB962C8B-B14F-4D97-AF65-F5344CB8AC3E}">
        <p14:creationId xmlns:p14="http://schemas.microsoft.com/office/powerpoint/2010/main" val="377942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F7F9-712C-DD23-AC47-F88290D63C63}"/>
              </a:ext>
            </a:extLst>
          </p:cNvPr>
          <p:cNvSpPr>
            <a:spLocks noGrp="1"/>
          </p:cNvSpPr>
          <p:nvPr>
            <p:ph type="title"/>
          </p:nvPr>
        </p:nvSpPr>
        <p:spPr/>
        <p:txBody>
          <a:bodyPr/>
          <a:lstStyle/>
          <a:p>
            <a:r>
              <a:rPr lang="en-GB" dirty="0"/>
              <a:t>LSTM</a:t>
            </a:r>
          </a:p>
        </p:txBody>
      </p:sp>
      <p:sp>
        <p:nvSpPr>
          <p:cNvPr id="3" name="Content Placeholder 2">
            <a:extLst>
              <a:ext uri="{FF2B5EF4-FFF2-40B4-BE49-F238E27FC236}">
                <a16:creationId xmlns:a16="http://schemas.microsoft.com/office/drawing/2014/main" id="{A50D5445-B3A2-9F13-414C-970820CF2F07}"/>
              </a:ext>
            </a:extLst>
          </p:cNvPr>
          <p:cNvSpPr>
            <a:spLocks noGrp="1"/>
          </p:cNvSpPr>
          <p:nvPr>
            <p:ph sz="half" idx="1"/>
          </p:nvPr>
        </p:nvSpPr>
        <p:spPr>
          <a:xfrm>
            <a:off x="838200" y="1825625"/>
            <a:ext cx="10868378" cy="4351338"/>
          </a:xfrm>
        </p:spPr>
        <p:txBody>
          <a:bodyPr>
            <a:norm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implemented LSTM (Long-Short-Term Memory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a:t>
            </a:r>
            <a:r>
              <a:rPr lang="en-GB" dirty="0"/>
              <a:t>is a type of recurrent neural network (RNN) specifically designed to handle sequential data.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Short-Term Memory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Learns immediate trends in the yearly data.</a:t>
            </a:r>
          </a:p>
          <a:p>
            <a:pPr>
              <a:buFont typeface="Wingdings" panose="05000000000000000000" pitchFamily="2" charset="2"/>
              <a:buChar char="v"/>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Long-Term Memory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Captures long-term patterns.</a:t>
            </a:r>
          </a:p>
          <a:p>
            <a:pPr marL="0" indent="0">
              <a:buNone/>
            </a:pPr>
            <a:r>
              <a:rPr lang="en-GB" dirty="0"/>
              <a:t>This is important as it helps in:</a:t>
            </a:r>
          </a:p>
          <a:p>
            <a:pPr>
              <a:buFont typeface="Wingdings" panose="05000000000000000000" pitchFamily="2" charset="2"/>
              <a:buChar char="q"/>
            </a:pPr>
            <a:r>
              <a:rPr lang="en-GB" dirty="0"/>
              <a:t>Predicting the next value in a sequence.</a:t>
            </a:r>
          </a:p>
          <a:p>
            <a:pPr>
              <a:buFont typeface="Wingdings" panose="05000000000000000000" pitchFamily="2" charset="2"/>
              <a:buChar char="q"/>
            </a:pPr>
            <a:r>
              <a:rPr lang="en-GB" dirty="0"/>
              <a:t>Handling data with </a:t>
            </a:r>
            <a:r>
              <a:rPr lang="en-GB" b="1" dirty="0"/>
              <a:t>non-linear dependencies.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29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32A5-4618-576F-85B8-4BDD95365177}"/>
              </a:ext>
            </a:extLst>
          </p:cNvPr>
          <p:cNvSpPr>
            <a:spLocks noGrp="1"/>
          </p:cNvSpPr>
          <p:nvPr>
            <p:ph type="title"/>
          </p:nvPr>
        </p:nvSpPr>
        <p:spPr/>
        <p:txBody>
          <a:bodyPr/>
          <a:lstStyle/>
          <a:p>
            <a:r>
              <a:rPr lang="en-GB" dirty="0"/>
              <a:t>LSTM model</a:t>
            </a:r>
          </a:p>
        </p:txBody>
      </p:sp>
      <p:pic>
        <p:nvPicPr>
          <p:cNvPr id="5" name="Content Placeholder 4">
            <a:extLst>
              <a:ext uri="{FF2B5EF4-FFF2-40B4-BE49-F238E27FC236}">
                <a16:creationId xmlns:a16="http://schemas.microsoft.com/office/drawing/2014/main" id="{B77B898B-8D3B-1E8E-D2A2-AB83B1B42A51}"/>
              </a:ext>
            </a:extLst>
          </p:cNvPr>
          <p:cNvPicPr>
            <a:picLocks noGrp="1" noChangeAspect="1"/>
          </p:cNvPicPr>
          <p:nvPr>
            <p:ph sz="half" idx="1"/>
          </p:nvPr>
        </p:nvPicPr>
        <p:blipFill>
          <a:blip r:embed="rId2"/>
          <a:stretch>
            <a:fillRect/>
          </a:stretch>
        </p:blipFill>
        <p:spPr>
          <a:xfrm>
            <a:off x="129092" y="3043220"/>
            <a:ext cx="11621798" cy="3234230"/>
          </a:xfrm>
        </p:spPr>
      </p:pic>
      <p:sp>
        <p:nvSpPr>
          <p:cNvPr id="3" name="TextBox 2">
            <a:extLst>
              <a:ext uri="{FF2B5EF4-FFF2-40B4-BE49-F238E27FC236}">
                <a16:creationId xmlns:a16="http://schemas.microsoft.com/office/drawing/2014/main" id="{26EAE34F-5356-ADFF-94E0-05879DBA518A}"/>
              </a:ext>
            </a:extLst>
          </p:cNvPr>
          <p:cNvSpPr txBox="1"/>
          <p:nvPr/>
        </p:nvSpPr>
        <p:spPr>
          <a:xfrm>
            <a:off x="355002" y="1473560"/>
            <a:ext cx="11006418"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run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uncorrected data resulted in poor performance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approach: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necessary data corrections significantly improved results </a:t>
            </a:r>
          </a:p>
          <a:p>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The name sequential is because it uses </a:t>
            </a:r>
            <a:r>
              <a:rPr lang="en-GB" sz="2400" dirty="0" err="1">
                <a:latin typeface="Times New Roman" panose="02020603050405020304" pitchFamily="18" charset="0"/>
                <a:cs typeface="Times New Roman" panose="02020603050405020304" pitchFamily="18" charset="0"/>
              </a:rPr>
              <a:t>keras</a:t>
            </a:r>
            <a:r>
              <a:rPr lang="en-GB" sz="2400" dirty="0">
                <a:latin typeface="Times New Roman" panose="02020603050405020304" pitchFamily="18" charset="0"/>
                <a:cs typeface="Times New Roman" panose="02020603050405020304" pitchFamily="18" charset="0"/>
              </a:rPr>
              <a:t> sequential API</a:t>
            </a:r>
          </a:p>
        </p:txBody>
      </p:sp>
    </p:spTree>
    <p:extLst>
      <p:ext uri="{BB962C8B-B14F-4D97-AF65-F5344CB8AC3E}">
        <p14:creationId xmlns:p14="http://schemas.microsoft.com/office/powerpoint/2010/main" val="59019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BCEA-A557-96B6-290C-439658326DE4}"/>
              </a:ext>
            </a:extLst>
          </p:cNvPr>
          <p:cNvSpPr>
            <a:spLocks noGrp="1"/>
          </p:cNvSpPr>
          <p:nvPr>
            <p:ph type="title"/>
          </p:nvPr>
        </p:nvSpPr>
        <p:spPr/>
        <p:txBody>
          <a:bodyPr/>
          <a:lstStyle/>
          <a:p>
            <a:r>
              <a:rPr lang="en-GB" dirty="0"/>
              <a:t>Evaluation and Results </a:t>
            </a:r>
          </a:p>
        </p:txBody>
      </p:sp>
      <p:sp>
        <p:nvSpPr>
          <p:cNvPr id="3" name="Content Placeholder 2">
            <a:extLst>
              <a:ext uri="{FF2B5EF4-FFF2-40B4-BE49-F238E27FC236}">
                <a16:creationId xmlns:a16="http://schemas.microsoft.com/office/drawing/2014/main" id="{72023D60-B311-7966-D280-7898FFC9BE5B}"/>
              </a:ext>
            </a:extLst>
          </p:cNvPr>
          <p:cNvSpPr>
            <a:spLocks noGrp="1"/>
          </p:cNvSpPr>
          <p:nvPr>
            <p:ph sz="half" idx="1"/>
          </p:nvPr>
        </p:nvSpPr>
        <p:spPr>
          <a:xfrm>
            <a:off x="838200" y="1825625"/>
            <a:ext cx="9230958" cy="4351338"/>
          </a:xfrm>
        </p:spPr>
        <p:txBody>
          <a:bodyPr>
            <a:normAutofit lnSpcReduction="10000"/>
          </a:bodyPr>
          <a:lstStyle/>
          <a:p>
            <a:pPr>
              <a:buFont typeface="Wingdings" panose="05000000000000000000" pitchFamily="2" charset="2"/>
              <a:buChar char="v"/>
            </a:pPr>
            <a:r>
              <a:rPr lang="en-GB" dirty="0"/>
              <a:t>Previously we were training the first 4 years and using the final year for testing. This didn’t help</a:t>
            </a:r>
          </a:p>
          <a:p>
            <a:pPr>
              <a:buFont typeface="Wingdings" panose="05000000000000000000" pitchFamily="2" charset="2"/>
              <a:buChar char="v"/>
            </a:pPr>
            <a:r>
              <a:rPr lang="en-GB" dirty="0"/>
              <a:t>Next approach was training the first 3 years and then testing for 2 years we got significantly better results. </a:t>
            </a:r>
          </a:p>
          <a:p>
            <a:pPr>
              <a:buFont typeface="Wingdings" panose="05000000000000000000" pitchFamily="2" charset="2"/>
              <a:buChar char="v"/>
            </a:pPr>
            <a:r>
              <a:rPr lang="en-GB" dirty="0"/>
              <a:t>Iterated with different epoch and batch size to get best results. </a:t>
            </a:r>
          </a:p>
          <a:p>
            <a:pPr marL="0" indent="0" eaLnBrk="0" fontAlgn="base" hangingPunct="0">
              <a:lnSpc>
                <a:spcPct val="100000"/>
              </a:lnSpc>
              <a:spcBef>
                <a:spcPct val="0"/>
              </a:spcBef>
              <a:spcAft>
                <a:spcPct val="0"/>
              </a:spcAft>
              <a:buNone/>
            </a:pPr>
            <a:endParaRPr lang="en-US" altLang="en-US" sz="2800"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800" dirty="0">
                <a:solidFill>
                  <a:srgbClr val="000000"/>
                </a:solidFill>
                <a:latin typeface="Times New Roman" panose="02020603050405020304" pitchFamily="18" charset="0"/>
                <a:cs typeface="Times New Roman" panose="02020603050405020304" pitchFamily="18" charset="0"/>
              </a:rPr>
              <a:t>We ran our model for </a:t>
            </a:r>
            <a:r>
              <a:rPr lang="en-US" altLang="en-US" sz="2800" b="1" dirty="0">
                <a:latin typeface="Times New Roman" panose="02020603050405020304" pitchFamily="18" charset="0"/>
                <a:cs typeface="Times New Roman" panose="02020603050405020304" pitchFamily="18" charset="0"/>
              </a:rPr>
              <a:t>100 epochs</a:t>
            </a:r>
            <a:r>
              <a:rPr lang="en-US" altLang="en-US" sz="2800" dirty="0">
                <a:latin typeface="Times New Roman" panose="02020603050405020304" pitchFamily="18" charset="0"/>
                <a:cs typeface="Times New Roman" panose="02020603050405020304" pitchFamily="18" charset="0"/>
              </a:rPr>
              <a:t> and </a:t>
            </a:r>
            <a:r>
              <a:rPr lang="en-US" altLang="en-US" sz="2800" b="1" dirty="0">
                <a:latin typeface="Times New Roman" panose="02020603050405020304" pitchFamily="18" charset="0"/>
                <a:cs typeface="Times New Roman" panose="02020603050405020304" pitchFamily="18" charset="0"/>
              </a:rPr>
              <a:t>batch size of 64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Actual value for 2022: 5456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Predicted value for 2022: 5484.5</a:t>
            </a:r>
            <a:endParaRPr lang="en-US" altLang="en-US" sz="2800" dirty="0">
              <a:solidFill>
                <a:srgbClr val="000000"/>
              </a:solidFill>
              <a:latin typeface="Times New Roman" panose="02020603050405020304" pitchFamily="18" charset="0"/>
              <a:cs typeface="Times New Roman" panose="02020603050405020304" pitchFamily="18" charset="0"/>
            </a:endParaRPr>
          </a:p>
          <a:p>
            <a:endParaRPr lang="en-GB" dirty="0"/>
          </a:p>
          <a:p>
            <a:endParaRPr lang="en-GB" dirty="0"/>
          </a:p>
        </p:txBody>
      </p:sp>
    </p:spTree>
    <p:extLst>
      <p:ext uri="{BB962C8B-B14F-4D97-AF65-F5344CB8AC3E}">
        <p14:creationId xmlns:p14="http://schemas.microsoft.com/office/powerpoint/2010/main" val="1223706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C46D-44DC-8C4D-2D02-4FBD8AF1F68F}"/>
              </a:ext>
            </a:extLst>
          </p:cNvPr>
          <p:cNvSpPr>
            <a:spLocks noGrp="1"/>
          </p:cNvSpPr>
          <p:nvPr>
            <p:ph type="title"/>
          </p:nvPr>
        </p:nvSpPr>
        <p:spPr/>
        <p:txBody>
          <a:bodyPr/>
          <a:lstStyle/>
          <a:p>
            <a:r>
              <a:rPr lang="en-GB" dirty="0"/>
              <a:t>Results</a:t>
            </a:r>
          </a:p>
        </p:txBody>
      </p:sp>
      <p:sp>
        <p:nvSpPr>
          <p:cNvPr id="6" name="Content Placeholder 5">
            <a:extLst>
              <a:ext uri="{FF2B5EF4-FFF2-40B4-BE49-F238E27FC236}">
                <a16:creationId xmlns:a16="http://schemas.microsoft.com/office/drawing/2014/main" id="{A40410FE-453C-36EF-FFBC-C1F544ABA90D}"/>
              </a:ext>
            </a:extLst>
          </p:cNvPr>
          <p:cNvSpPr>
            <a:spLocks noGrp="1"/>
          </p:cNvSpPr>
          <p:nvPr>
            <p:ph sz="half" idx="1"/>
          </p:nvPr>
        </p:nvSpPr>
        <p:spPr>
          <a:xfrm>
            <a:off x="301214" y="1409252"/>
            <a:ext cx="11890786" cy="4767711"/>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Times New Roman" panose="02020603050405020304" pitchFamily="18" charset="0"/>
                <a:cs typeface="Times New Roman" panose="02020603050405020304" pitchFamily="18" charset="0"/>
              </a:rPr>
              <a:t>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 loss decreases significantly, from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0.0927</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epoch 1 to around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0.029</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epoch 83.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shows that the model is learning and adjusting weights well over time. It indicates that the LSTM is able to capture patterns in the data and gradually improve its predictions.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for the next four years</a:t>
            </a:r>
          </a:p>
          <a:p>
            <a:pPr marL="0" indent="0">
              <a:buNone/>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Predicted value for 2023: 5484.5234375 </a:t>
            </a:r>
          </a:p>
          <a:p>
            <a:pPr marL="0" indent="0">
              <a:buNone/>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Predicted value for 2024: 5290.125 </a:t>
            </a:r>
          </a:p>
          <a:p>
            <a:pPr marL="0" indent="0">
              <a:buNone/>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Predicted value for 2025: 5140.3701171875 </a:t>
            </a:r>
          </a:p>
          <a:p>
            <a:pPr marL="0" indent="0">
              <a:buNone/>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Predicted value for 2026: 4992.00927734375</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5400" b="0" i="0" u="none" strike="noStrike" cap="none" normalizeH="0" baseline="0" dirty="0">
              <a:ln>
                <a:noFill/>
              </a:ln>
              <a:solidFill>
                <a:schemeClr val="tx1"/>
              </a:solidFill>
              <a:effectLst/>
              <a:latin typeface="Arial" panose="020B0604020202020204" pitchFamily="34" charset="0"/>
            </a:endParaRPr>
          </a:p>
          <a:p>
            <a:endParaRPr lang="en-GB" dirty="0"/>
          </a:p>
        </p:txBody>
      </p:sp>
    </p:spTree>
    <p:extLst>
      <p:ext uri="{BB962C8B-B14F-4D97-AF65-F5344CB8AC3E}">
        <p14:creationId xmlns:p14="http://schemas.microsoft.com/office/powerpoint/2010/main" val="24993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B015-C528-284E-7DBF-39F5FD01451E}"/>
              </a:ext>
            </a:extLst>
          </p:cNvPr>
          <p:cNvSpPr>
            <a:spLocks noGrp="1"/>
          </p:cNvSpPr>
          <p:nvPr>
            <p:ph type="title"/>
          </p:nvPr>
        </p:nvSpPr>
        <p:spPr/>
        <p:txBody>
          <a:bodyPr/>
          <a:lstStyle/>
          <a:p>
            <a:r>
              <a:rPr lang="en-GB" dirty="0"/>
              <a:t>Insights</a:t>
            </a:r>
          </a:p>
        </p:txBody>
      </p:sp>
      <p:sp>
        <p:nvSpPr>
          <p:cNvPr id="3" name="Content Placeholder 2">
            <a:extLst>
              <a:ext uri="{FF2B5EF4-FFF2-40B4-BE49-F238E27FC236}">
                <a16:creationId xmlns:a16="http://schemas.microsoft.com/office/drawing/2014/main" id="{D5D7E1FC-7BD0-C3D2-8F2D-E0FA85D72CD4}"/>
              </a:ext>
            </a:extLst>
          </p:cNvPr>
          <p:cNvSpPr>
            <a:spLocks noGrp="1"/>
          </p:cNvSpPr>
          <p:nvPr>
            <p:ph sz="half" idx="1"/>
          </p:nvPr>
        </p:nvSpPr>
        <p:spPr>
          <a:xfrm>
            <a:off x="838200" y="1825625"/>
            <a:ext cx="10523220" cy="4351338"/>
          </a:xfrm>
        </p:spPr>
        <p:txBody>
          <a:bodyPr>
            <a:normAutofit/>
          </a:bodyPr>
          <a:lstStyle/>
          <a:p>
            <a:pPr marL="0" indent="0">
              <a:buNone/>
            </a:pPr>
            <a:r>
              <a:rPr lang="en-GB" dirty="0"/>
              <a:t>Reduction in student demand post-pandemic.</a:t>
            </a:r>
          </a:p>
          <a:p>
            <a:pPr marL="0" indent="0">
              <a:buNone/>
            </a:pPr>
            <a:r>
              <a:rPr lang="en-GB" b="1" dirty="0"/>
              <a:t>                                                   Hypothesis</a:t>
            </a:r>
          </a:p>
          <a:p>
            <a:pPr>
              <a:buFont typeface="Wingdings" panose="05000000000000000000" pitchFamily="2" charset="2"/>
              <a:buChar char="v"/>
            </a:pPr>
            <a:r>
              <a:rPr lang="en-GB" dirty="0"/>
              <a:t>Some of the external factors such as demographic shifts, fewer high school graduates, or changes in the economic environment affecting university admissions. </a:t>
            </a:r>
          </a:p>
          <a:p>
            <a:pPr>
              <a:buFont typeface="Wingdings" panose="05000000000000000000" pitchFamily="2" charset="2"/>
              <a:buChar char="v"/>
            </a:pPr>
            <a:r>
              <a:rPr lang="en-GB" dirty="0"/>
              <a:t>Universities are becoming more efficient with their admissions process, possibly admitting a more predictable number of students in the regular admissions cycle.</a:t>
            </a:r>
          </a:p>
        </p:txBody>
      </p:sp>
    </p:spTree>
    <p:extLst>
      <p:ext uri="{BB962C8B-B14F-4D97-AF65-F5344CB8AC3E}">
        <p14:creationId xmlns:p14="http://schemas.microsoft.com/office/powerpoint/2010/main" val="3568189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FD2FC-366C-B6C3-F530-EA75A3750CB8}"/>
              </a:ext>
            </a:extLst>
          </p:cNvPr>
          <p:cNvSpPr>
            <a:spLocks noGrp="1"/>
          </p:cNvSpPr>
          <p:nvPr>
            <p:ph type="title"/>
          </p:nvPr>
        </p:nvSpPr>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id="{6502E25D-283C-4FE0-0621-C3A383DC29B5}"/>
              </a:ext>
            </a:extLst>
          </p:cNvPr>
          <p:cNvSpPr>
            <a:spLocks noGrp="1"/>
          </p:cNvSpPr>
          <p:nvPr>
            <p:ph sz="half" idx="1"/>
          </p:nvPr>
        </p:nvSpPr>
        <p:spPr>
          <a:xfrm>
            <a:off x="838199" y="1825625"/>
            <a:ext cx="11188849" cy="4351338"/>
          </a:xfrm>
        </p:spPr>
        <p:txBody>
          <a:bodyPr>
            <a:normAutofit/>
          </a:bodyPr>
          <a:lstStyle/>
          <a:p>
            <a:pPr>
              <a:buFont typeface="Wingdings" panose="05000000000000000000" pitchFamily="2" charset="2"/>
              <a:buChar char="v"/>
            </a:pPr>
            <a:r>
              <a:rPr lang="en-GB" sz="2800" dirty="0"/>
              <a:t>The COVID-19 pandemic caused significant uncertainty in admissions in 2020, leading to a sharp increase in waitlist activity as universities were unsure how many admitted students would </a:t>
            </a:r>
            <a:r>
              <a:rPr lang="en-GB" sz="2800" dirty="0" err="1"/>
              <a:t>enroll</a:t>
            </a:r>
            <a:r>
              <a:rPr lang="en-GB" sz="2800" dirty="0"/>
              <a:t>. But now universities are returning to pre-pandemic levels of predictability in admissions, meaning they rely less on waitlists to fill spots.</a:t>
            </a:r>
          </a:p>
          <a:p>
            <a:pPr>
              <a:buFont typeface="Wingdings" panose="05000000000000000000" pitchFamily="2" charset="2"/>
              <a:buChar char="v"/>
            </a:pPr>
            <a:endParaRPr lang="en-GB" sz="2800" dirty="0"/>
          </a:p>
          <a:p>
            <a:pPr>
              <a:buFont typeface="Wingdings" panose="05000000000000000000" pitchFamily="2" charset="2"/>
              <a:buChar char="v"/>
            </a:pPr>
            <a:r>
              <a:rPr lang="en-GB" sz="2800" dirty="0"/>
              <a:t>The evolution of external and internal factors might be the key reason for this decline in trend.</a:t>
            </a:r>
          </a:p>
          <a:p>
            <a:endParaRPr lang="en-GB" dirty="0"/>
          </a:p>
        </p:txBody>
      </p:sp>
    </p:spTree>
    <p:extLst>
      <p:ext uri="{BB962C8B-B14F-4D97-AF65-F5344CB8AC3E}">
        <p14:creationId xmlns:p14="http://schemas.microsoft.com/office/powerpoint/2010/main" val="360365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EDD3A-A375-7A3E-7504-E769AE7A0A83}"/>
              </a:ext>
            </a:extLst>
          </p:cNvPr>
          <p:cNvSpPr>
            <a:spLocks noGrp="1"/>
          </p:cNvSpPr>
          <p:nvPr>
            <p:ph type="title"/>
          </p:nvPr>
        </p:nvSpPr>
        <p:spPr/>
        <p:txBody>
          <a:bodyPr/>
          <a:lstStyle/>
          <a:p>
            <a:r>
              <a:rPr lang="en-GB" dirty="0"/>
              <a:t>Arima Model</a:t>
            </a:r>
          </a:p>
        </p:txBody>
      </p:sp>
      <p:sp>
        <p:nvSpPr>
          <p:cNvPr id="3" name="Content Placeholder 2">
            <a:extLst>
              <a:ext uri="{FF2B5EF4-FFF2-40B4-BE49-F238E27FC236}">
                <a16:creationId xmlns:a16="http://schemas.microsoft.com/office/drawing/2014/main" id="{077444F7-E939-3F35-6959-7C80D6A6EF95}"/>
              </a:ext>
            </a:extLst>
          </p:cNvPr>
          <p:cNvSpPr>
            <a:spLocks noGrp="1"/>
          </p:cNvSpPr>
          <p:nvPr>
            <p:ph sz="half" idx="1"/>
          </p:nvPr>
        </p:nvSpPr>
        <p:spPr>
          <a:xfrm>
            <a:off x="203201" y="1825625"/>
            <a:ext cx="11796294" cy="4351338"/>
          </a:xfrm>
        </p:spPr>
        <p:txBody>
          <a:bodyPr>
            <a:normAutofit lnSpcReduction="10000"/>
          </a:bodyPr>
          <a:lstStyle/>
          <a:p>
            <a:pPr marL="0" indent="0" algn="l">
              <a:spcBef>
                <a:spcPts val="525"/>
              </a:spcBef>
              <a:buNone/>
            </a:pPr>
            <a:r>
              <a:rPr lang="en-GB" b="0" i="0" dirty="0">
                <a:effectLst/>
                <a:latin typeface="Times New Roman" panose="02020603050405020304" pitchFamily="18" charset="0"/>
                <a:cs typeface="Times New Roman" panose="02020603050405020304" pitchFamily="18" charset="0"/>
              </a:rPr>
              <a:t>ARIMA is a time-series model for forecasting and </a:t>
            </a:r>
            <a:r>
              <a:rPr lang="en-GB" b="0" i="0" dirty="0" err="1">
                <a:effectLst/>
                <a:latin typeface="Times New Roman" panose="02020603050405020304" pitchFamily="18" charset="0"/>
                <a:cs typeface="Times New Roman" panose="02020603050405020304" pitchFamily="18" charset="0"/>
              </a:rPr>
              <a:t>analyzing</a:t>
            </a:r>
            <a:r>
              <a:rPr lang="en-GB" b="0" i="0" dirty="0">
                <a:effectLst/>
                <a:latin typeface="Times New Roman" panose="02020603050405020304" pitchFamily="18" charset="0"/>
                <a:cs typeface="Times New Roman" panose="02020603050405020304" pitchFamily="18" charset="0"/>
              </a:rPr>
              <a:t> linear trends in stationary data. Before applying ARIMA, we must choose the optimal parameters p, d, and q. </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p (Autoregressive Order):</a:t>
            </a:r>
          </a:p>
          <a:p>
            <a:pPr marL="0" indent="0">
              <a:buNone/>
            </a:pPr>
            <a:r>
              <a:rPr lang="en-GB" dirty="0">
                <a:latin typeface="Times New Roman" panose="02020603050405020304" pitchFamily="18" charset="0"/>
                <a:cs typeface="Times New Roman" panose="02020603050405020304" pitchFamily="18" charset="0"/>
              </a:rPr>
              <a:t>Represents the number of lagged observations included in the model.</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d (Differencing Order):</a:t>
            </a:r>
          </a:p>
          <a:p>
            <a:pPr marL="0" indent="0">
              <a:buNone/>
            </a:pPr>
            <a:r>
              <a:rPr lang="en-GB" dirty="0">
                <a:latin typeface="Times New Roman" panose="02020603050405020304" pitchFamily="18" charset="0"/>
                <a:cs typeface="Times New Roman" panose="02020603050405020304" pitchFamily="18" charset="0"/>
              </a:rPr>
              <a:t>Indicates the number of times the data needs to be differenced to make it stationary.</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q (Moving Average Order):</a:t>
            </a:r>
          </a:p>
          <a:p>
            <a:pPr marL="0" indent="0">
              <a:buNone/>
            </a:pPr>
            <a:r>
              <a:rPr lang="en-GB" dirty="0">
                <a:latin typeface="Times New Roman" panose="02020603050405020304" pitchFamily="18" charset="0"/>
                <a:cs typeface="Times New Roman" panose="02020603050405020304" pitchFamily="18" charset="0"/>
              </a:rPr>
              <a:t>Refers to the number of lagged forecast errors used to predict the current value.</a:t>
            </a:r>
          </a:p>
          <a:p>
            <a:pPr marL="0" indent="0" algn="l">
              <a:spcBef>
                <a:spcPts val="525"/>
              </a:spcBef>
              <a:buNone/>
            </a:pPr>
            <a:endParaRPr lang="en-GB" b="0" i="0" dirty="0">
              <a:effectLst/>
              <a:cs typeface="Aptos Serif" panose="020B0502040204020203" pitchFamily="18" charset="0"/>
            </a:endParaRPr>
          </a:p>
        </p:txBody>
      </p:sp>
    </p:spTree>
    <p:extLst>
      <p:ext uri="{BB962C8B-B14F-4D97-AF65-F5344CB8AC3E}">
        <p14:creationId xmlns:p14="http://schemas.microsoft.com/office/powerpoint/2010/main" val="260993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C3BBF-CDFD-4090-EFE0-43C53A96AC60}"/>
              </a:ext>
            </a:extLst>
          </p:cNvPr>
          <p:cNvSpPr>
            <a:spLocks noGrp="1"/>
          </p:cNvSpPr>
          <p:nvPr>
            <p:ph type="title"/>
          </p:nvPr>
        </p:nvSpPr>
        <p:spPr/>
        <p:txBody>
          <a:bodyPr/>
          <a:lstStyle/>
          <a:p>
            <a:r>
              <a:rPr lang="en-GB" dirty="0"/>
              <a:t>ADF test</a:t>
            </a:r>
          </a:p>
        </p:txBody>
      </p:sp>
      <p:sp>
        <p:nvSpPr>
          <p:cNvPr id="3" name="Content Placeholder 2">
            <a:extLst>
              <a:ext uri="{FF2B5EF4-FFF2-40B4-BE49-F238E27FC236}">
                <a16:creationId xmlns:a16="http://schemas.microsoft.com/office/drawing/2014/main" id="{41F298FF-A5EF-3737-446A-885264F66C90}"/>
              </a:ext>
            </a:extLst>
          </p:cNvPr>
          <p:cNvSpPr>
            <a:spLocks noGrp="1"/>
          </p:cNvSpPr>
          <p:nvPr>
            <p:ph sz="half" idx="1"/>
          </p:nvPr>
        </p:nvSpPr>
        <p:spPr>
          <a:xfrm>
            <a:off x="838200" y="1825625"/>
            <a:ext cx="10672482" cy="4351338"/>
          </a:xfrm>
        </p:spPr>
        <p:txBody>
          <a:bodyPr/>
          <a:lstStyle/>
          <a:p>
            <a:pPr>
              <a:buFont typeface="Wingdings" panose="05000000000000000000" pitchFamily="2" charset="2"/>
              <a:buChar char="v"/>
            </a:pPr>
            <a:r>
              <a:rPr lang="en-GB" b="0" i="0" dirty="0">
                <a:effectLst/>
                <a:cs typeface="Aptos Serif" panose="020B0502040204020203" pitchFamily="18" charset="0"/>
              </a:rPr>
              <a:t>We start by checking whether our dataset is stationary using the Augmented Dickey-Fuller Test, where the null hypothesis states that the data is not stationary.</a:t>
            </a:r>
          </a:p>
          <a:p>
            <a:pPr>
              <a:buFont typeface="Wingdings" panose="05000000000000000000" pitchFamily="2" charset="2"/>
              <a:buChar char="v"/>
            </a:pPr>
            <a:endParaRPr lang="en-GB" b="0" i="0" dirty="0">
              <a:effectLst/>
              <a:cs typeface="Aptos Serif" panose="020B0502040204020203" pitchFamily="18" charset="0"/>
            </a:endParaRPr>
          </a:p>
          <a:p>
            <a:pPr>
              <a:buFont typeface="Wingdings" panose="05000000000000000000" pitchFamily="2" charset="2"/>
              <a:buChar char="v"/>
            </a:pPr>
            <a:endParaRPr lang="en-GB" b="0" i="0" dirty="0">
              <a:effectLst/>
              <a:cs typeface="Aptos Serif" panose="020B0502040204020203" pitchFamily="18" charset="0"/>
            </a:endParaRPr>
          </a:p>
          <a:p>
            <a:pPr>
              <a:buFont typeface="Wingdings" panose="05000000000000000000" pitchFamily="2" charset="2"/>
              <a:buChar char="v"/>
            </a:pPr>
            <a:r>
              <a:rPr lang="en-GB" b="0" i="0" dirty="0">
                <a:effectLst/>
                <a:cs typeface="Aptos Serif" panose="020B0502040204020203" pitchFamily="18" charset="0"/>
              </a:rPr>
              <a:t>In this case, the ADF statistic is -7.45, and the p-value is 5.63 * 10^(-11), indicating that the data is stationary. Since the p-value is significantly low, we reject the null hypothesis, which means that d = 0.</a:t>
            </a:r>
          </a:p>
          <a:p>
            <a:endParaRPr lang="en-GB" dirty="0"/>
          </a:p>
        </p:txBody>
      </p:sp>
    </p:spTree>
    <p:extLst>
      <p:ext uri="{BB962C8B-B14F-4D97-AF65-F5344CB8AC3E}">
        <p14:creationId xmlns:p14="http://schemas.microsoft.com/office/powerpoint/2010/main" val="3109003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9CB5-DABF-85CD-D16C-FAEF1BB9606E}"/>
              </a:ext>
            </a:extLst>
          </p:cNvPr>
          <p:cNvSpPr>
            <a:spLocks noGrp="1"/>
          </p:cNvSpPr>
          <p:nvPr>
            <p:ph type="title"/>
          </p:nvPr>
        </p:nvSpPr>
        <p:spPr>
          <a:xfrm>
            <a:off x="2857500" y="300039"/>
            <a:ext cx="8503920" cy="957262"/>
          </a:xfrm>
        </p:spPr>
        <p:txBody>
          <a:bodyPr anchor="ctr">
            <a:normAutofit/>
          </a:bodyPr>
          <a:lstStyle/>
          <a:p>
            <a:r>
              <a:rPr lang="en-GB" dirty="0"/>
              <a:t>ACF and PACF</a:t>
            </a:r>
          </a:p>
        </p:txBody>
      </p:sp>
      <p:sp>
        <p:nvSpPr>
          <p:cNvPr id="7" name="Content Placeholder 6">
            <a:extLst>
              <a:ext uri="{FF2B5EF4-FFF2-40B4-BE49-F238E27FC236}">
                <a16:creationId xmlns:a16="http://schemas.microsoft.com/office/drawing/2014/main" id="{23A5B7A5-24C4-58AF-787D-94C042A02B49}"/>
              </a:ext>
            </a:extLst>
          </p:cNvPr>
          <p:cNvSpPr>
            <a:spLocks noGrp="1"/>
          </p:cNvSpPr>
          <p:nvPr>
            <p:ph idx="1"/>
          </p:nvPr>
        </p:nvSpPr>
        <p:spPr>
          <a:xfrm>
            <a:off x="838199" y="1825625"/>
            <a:ext cx="10952747" cy="4351338"/>
          </a:xfrm>
        </p:spPr>
        <p:txBody>
          <a:bodyPr>
            <a:normAutofit lnSpcReduction="10000"/>
          </a:bodyPr>
          <a:lstStyle/>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B" dirty="0"/>
          </a:p>
          <a:p>
            <a:pPr marL="0" indent="0">
              <a:buNone/>
            </a:pPr>
            <a:r>
              <a:rPr lang="en-GB" dirty="0"/>
              <a:t>q=5 and p E [1,3]</a:t>
            </a:r>
          </a:p>
          <a:p>
            <a:endParaRPr lang="en-GB" dirty="0"/>
          </a:p>
          <a:p>
            <a:endParaRPr lang="en-GB" dirty="0"/>
          </a:p>
          <a:p>
            <a:endParaRPr lang="en-GB" dirty="0"/>
          </a:p>
        </p:txBody>
      </p:sp>
      <p:pic>
        <p:nvPicPr>
          <p:cNvPr id="1026" name="Picture 2">
            <a:extLst>
              <a:ext uri="{FF2B5EF4-FFF2-40B4-BE49-F238E27FC236}">
                <a16:creationId xmlns:a16="http://schemas.microsoft.com/office/drawing/2014/main" id="{FAD9D165-959A-269F-E308-572239E126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20" y="1440615"/>
            <a:ext cx="9565506" cy="3958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556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30E41460-4B52-20E2-9539-F50AFD6F31D7}"/>
              </a:ext>
            </a:extLst>
          </p:cNvPr>
          <p:cNvSpPr>
            <a:spLocks noGrp="1"/>
          </p:cNvSpPr>
          <p:nvPr>
            <p:ph type="title"/>
          </p:nvPr>
        </p:nvSpPr>
        <p:spPr>
          <a:xfrm>
            <a:off x="2857500" y="301752"/>
            <a:ext cx="8503920" cy="960120"/>
          </a:xfrm>
        </p:spPr>
        <p:txBody>
          <a:bodyPr/>
          <a:lstStyle/>
          <a:p>
            <a:r>
              <a:rPr lang="en-US" dirty="0"/>
              <a:t>ARIMA Model Results</a:t>
            </a:r>
          </a:p>
        </p:txBody>
      </p:sp>
      <p:sp>
        <p:nvSpPr>
          <p:cNvPr id="3" name="Content Placeholder 2">
            <a:extLst>
              <a:ext uri="{FF2B5EF4-FFF2-40B4-BE49-F238E27FC236}">
                <a16:creationId xmlns:a16="http://schemas.microsoft.com/office/drawing/2014/main" id="{21A7C408-54E2-996B-1A65-5878F9302CE0}"/>
              </a:ext>
            </a:extLst>
          </p:cNvPr>
          <p:cNvSpPr>
            <a:spLocks noGrp="1"/>
          </p:cNvSpPr>
          <p:nvPr>
            <p:ph sz="half" idx="1"/>
          </p:nvPr>
        </p:nvSpPr>
        <p:spPr>
          <a:xfrm>
            <a:off x="112889" y="1825625"/>
            <a:ext cx="5906911" cy="4351338"/>
          </a:xfrm>
        </p:spPr>
        <p:txBody>
          <a:bodyPr>
            <a:normAutofit/>
          </a:bodyPr>
          <a:lstStyle/>
          <a:p>
            <a:pPr marL="0" indent="0" algn="l">
              <a:spcBef>
                <a:spcPts val="525"/>
              </a:spcBef>
              <a:buNone/>
            </a:pPr>
            <a:r>
              <a:rPr lang="en-GB" sz="2400" b="0" i="0" dirty="0">
                <a:effectLst/>
              </a:rPr>
              <a:t>We trained the model on the data for the first three years and tested it on the subsequent two years. </a:t>
            </a:r>
          </a:p>
          <a:p>
            <a:pPr algn="l">
              <a:spcBef>
                <a:spcPts val="525"/>
              </a:spcBef>
            </a:pPr>
            <a:r>
              <a:rPr lang="en-GB" sz="2400" b="1" i="0" dirty="0">
                <a:effectLst/>
              </a:rPr>
              <a:t>Results:</a:t>
            </a:r>
            <a:r>
              <a:rPr lang="en-GB" sz="2400" b="0" i="0" dirty="0">
                <a:effectLst/>
              </a:rPr>
              <a:t> The model exhibited high Mean Squared Error (MSE) and Mean Absolute Error (MAE), indicating that the predictions failed to capture the variability in the test data. </a:t>
            </a:r>
          </a:p>
          <a:p>
            <a:pPr algn="l">
              <a:spcBef>
                <a:spcPts val="525"/>
              </a:spcBef>
            </a:pPr>
            <a:r>
              <a:rPr lang="en-GB" sz="2400" b="0" i="0" dirty="0">
                <a:effectLst/>
              </a:rPr>
              <a:t>The predictions were overly smooth and could not handle the non-linear trends present in the dataset.</a:t>
            </a:r>
          </a:p>
        </p:txBody>
      </p:sp>
      <p:pic>
        <p:nvPicPr>
          <p:cNvPr id="2050" name="Picture 2" descr="A graph of different colored lines&#10;&#10;Description automatically generated">
            <a:extLst>
              <a:ext uri="{FF2B5EF4-FFF2-40B4-BE49-F238E27FC236}">
                <a16:creationId xmlns:a16="http://schemas.microsoft.com/office/drawing/2014/main" id="{6C3D95FE-F61B-375B-1327-3DD8139857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2386325"/>
            <a:ext cx="5220717" cy="3276000"/>
          </a:xfrm>
          <a:prstGeom prst="rect">
            <a:avLst/>
          </a:prstGeom>
          <a:solidFill>
            <a:srgbClr val="FFFFFF"/>
          </a:solidFill>
        </p:spPr>
      </p:pic>
    </p:spTree>
    <p:extLst>
      <p:ext uri="{BB962C8B-B14F-4D97-AF65-F5344CB8AC3E}">
        <p14:creationId xmlns:p14="http://schemas.microsoft.com/office/powerpoint/2010/main" val="2192805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90484-BF46-4EDD-9D85-6C9EDDF485B5}"/>
              </a:ext>
            </a:extLst>
          </p:cNvPr>
          <p:cNvSpPr>
            <a:spLocks noGrp="1"/>
          </p:cNvSpPr>
          <p:nvPr>
            <p:ph type="title"/>
          </p:nvPr>
        </p:nvSpPr>
        <p:spPr/>
        <p:txBody>
          <a:bodyPr/>
          <a:lstStyle/>
          <a:p>
            <a:r>
              <a:rPr lang="en-GB"/>
              <a:t>SARIMA</a:t>
            </a:r>
            <a:endParaRPr lang="en-GB" dirty="0"/>
          </a:p>
        </p:txBody>
      </p:sp>
      <p:pic>
        <p:nvPicPr>
          <p:cNvPr id="1026" name="Picture 2">
            <a:extLst>
              <a:ext uri="{FF2B5EF4-FFF2-40B4-BE49-F238E27FC236}">
                <a16:creationId xmlns:a16="http://schemas.microsoft.com/office/drawing/2014/main" id="{C3C4BD98-77D3-B4A0-BEFD-4176A8CE6F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82758" y="1459863"/>
            <a:ext cx="7416000" cy="45358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E6F6C0-1F8F-07BC-F3C2-97A01E49059E}"/>
              </a:ext>
            </a:extLst>
          </p:cNvPr>
          <p:cNvSpPr txBox="1"/>
          <p:nvPr/>
        </p:nvSpPr>
        <p:spPr>
          <a:xfrm>
            <a:off x="521744" y="1979407"/>
            <a:ext cx="4061014" cy="2677656"/>
          </a:xfrm>
          <a:prstGeom prst="rect">
            <a:avLst/>
          </a:prstGeom>
          <a:noFill/>
        </p:spPr>
        <p:txBody>
          <a:bodyPr wrap="square" rtlCol="0">
            <a:spAutoFit/>
          </a:bodyPr>
          <a:lstStyle/>
          <a:p>
            <a:r>
              <a:rPr lang="en-GB" sz="2800">
                <a:latin typeface="Times New Roman" panose="02020603050405020304" pitchFamily="18" charset="0"/>
                <a:cs typeface="Times New Roman" panose="02020603050405020304" pitchFamily="18" charset="0"/>
              </a:rPr>
              <a:t>Similar to ARIMA, SARIMA produces smoother predictions that fail to capture the high variability in the testing data</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9003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FB68-2793-3ACA-378E-4D512AA8F6BC}"/>
              </a:ext>
            </a:extLst>
          </p:cNvPr>
          <p:cNvSpPr>
            <a:spLocks noGrp="1"/>
          </p:cNvSpPr>
          <p:nvPr>
            <p:ph type="title"/>
          </p:nvPr>
        </p:nvSpPr>
        <p:spPr>
          <a:xfrm>
            <a:off x="2312894" y="301752"/>
            <a:ext cx="9653328" cy="784770"/>
          </a:xfrm>
        </p:spPr>
        <p:txBody>
          <a:bodyP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i="0" u="none" strike="noStrike" cap="none" normalizeH="0" baseline="0" dirty="0">
                <a:ln>
                  <a:noFill/>
                </a:ln>
                <a:effectLst/>
              </a:rPr>
              <a:t>Steps that </a:t>
            </a:r>
            <a:r>
              <a:rPr lang="en-US" altLang="en-US" dirty="0"/>
              <a:t>can h</a:t>
            </a:r>
            <a:r>
              <a:rPr kumimoji="0" lang="en-US" altLang="en-US" sz="4400" i="0" u="none" strike="noStrike" cap="none" normalizeH="0" baseline="0" dirty="0">
                <a:ln>
                  <a:noFill/>
                </a:ln>
                <a:effectLst/>
              </a:rPr>
              <a:t>elp Students Choose the Right University</a:t>
            </a:r>
          </a:p>
        </p:txBody>
      </p:sp>
      <p:sp>
        <p:nvSpPr>
          <p:cNvPr id="3" name="Content Placeholder 2">
            <a:extLst>
              <a:ext uri="{FF2B5EF4-FFF2-40B4-BE49-F238E27FC236}">
                <a16:creationId xmlns:a16="http://schemas.microsoft.com/office/drawing/2014/main" id="{1E35B090-FBE8-DF2E-A02D-1AAB0F465057}"/>
              </a:ext>
            </a:extLst>
          </p:cNvPr>
          <p:cNvSpPr>
            <a:spLocks noGrp="1"/>
          </p:cNvSpPr>
          <p:nvPr>
            <p:ph sz="half" idx="1"/>
          </p:nvPr>
        </p:nvSpPr>
        <p:spPr>
          <a:xfrm>
            <a:off x="236668" y="1417320"/>
            <a:ext cx="11124752" cy="4759643"/>
          </a:xfrm>
        </p:spPr>
        <p:txBody>
          <a:bodyPr>
            <a:norm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One of the key factors that can assist students in making informed decisions about universities is understanding the specific courses and programs offered.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Having clarity on the courses provided by different universities allows students to better align their preferences and career goals with the institution's offerings.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Universities often design their majors and programs with unique approaches tailored to specific domains.</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151814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65E7-07FB-9B32-1852-D4EFFD111562}"/>
              </a:ext>
            </a:extLst>
          </p:cNvPr>
          <p:cNvSpPr>
            <a:spLocks noGrp="1"/>
          </p:cNvSpPr>
          <p:nvPr>
            <p:ph type="title"/>
          </p:nvPr>
        </p:nvSpPr>
        <p:spPr/>
        <p:txBody>
          <a:bodyPr/>
          <a:lstStyle/>
          <a:p>
            <a:r>
              <a:rPr lang="en-GB" dirty="0"/>
              <a:t>Contd..</a:t>
            </a:r>
          </a:p>
        </p:txBody>
      </p:sp>
      <p:sp>
        <p:nvSpPr>
          <p:cNvPr id="3" name="Content Placeholder 2">
            <a:extLst>
              <a:ext uri="{FF2B5EF4-FFF2-40B4-BE49-F238E27FC236}">
                <a16:creationId xmlns:a16="http://schemas.microsoft.com/office/drawing/2014/main" id="{8B78E018-5007-EC19-68FD-9A7724A285B3}"/>
              </a:ext>
            </a:extLst>
          </p:cNvPr>
          <p:cNvSpPr>
            <a:spLocks noGrp="1"/>
          </p:cNvSpPr>
          <p:nvPr>
            <p:ph sz="half" idx="1"/>
          </p:nvPr>
        </p:nvSpPr>
        <p:spPr>
          <a:xfrm>
            <a:off x="838199" y="1825625"/>
            <a:ext cx="11070515" cy="4351338"/>
          </a:xfrm>
        </p:spPr>
        <p:txBody>
          <a:bodyPr>
            <a:norm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By exploring the structure, focus, and specializations within the programs, students can identify which universities offer the most suitable courses for their academic and professional aspirations.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This insight not only helps students choose universities that match their interests but also empowers them to make well-informed decisions about their future.</a:t>
            </a:r>
          </a:p>
          <a:p>
            <a:endParaRPr lang="en-GB" dirty="0"/>
          </a:p>
        </p:txBody>
      </p:sp>
    </p:spTree>
    <p:extLst>
      <p:ext uri="{BB962C8B-B14F-4D97-AF65-F5344CB8AC3E}">
        <p14:creationId xmlns:p14="http://schemas.microsoft.com/office/powerpoint/2010/main" val="3608566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9C39-7ACD-5D7E-80B2-9F914C1C209E}"/>
              </a:ext>
            </a:extLst>
          </p:cNvPr>
          <p:cNvSpPr>
            <a:spLocks noGrp="1"/>
          </p:cNvSpPr>
          <p:nvPr>
            <p:ph type="title"/>
          </p:nvPr>
        </p:nvSpPr>
        <p:spPr/>
        <p:txBody>
          <a:bodyPr/>
          <a:lstStyle/>
          <a:p>
            <a:r>
              <a:rPr lang="en-GB" dirty="0"/>
              <a:t>Prototype for the user</a:t>
            </a:r>
          </a:p>
        </p:txBody>
      </p:sp>
      <p:pic>
        <p:nvPicPr>
          <p:cNvPr id="6" name="Content Placeholder 5">
            <a:extLst>
              <a:ext uri="{FF2B5EF4-FFF2-40B4-BE49-F238E27FC236}">
                <a16:creationId xmlns:a16="http://schemas.microsoft.com/office/drawing/2014/main" id="{45316507-87A7-CF49-CCFB-7C8D2FE6F2EE}"/>
              </a:ext>
            </a:extLst>
          </p:cNvPr>
          <p:cNvPicPr>
            <a:picLocks noGrp="1" noChangeAspect="1"/>
          </p:cNvPicPr>
          <p:nvPr>
            <p:ph sz="half" idx="1"/>
          </p:nvPr>
        </p:nvPicPr>
        <p:blipFill>
          <a:blip r:embed="rId2"/>
          <a:stretch>
            <a:fillRect/>
          </a:stretch>
        </p:blipFill>
        <p:spPr>
          <a:xfrm>
            <a:off x="432478" y="1787598"/>
            <a:ext cx="6340389" cy="1981372"/>
          </a:xfrm>
        </p:spPr>
      </p:pic>
      <p:pic>
        <p:nvPicPr>
          <p:cNvPr id="8" name="Picture 7">
            <a:extLst>
              <a:ext uri="{FF2B5EF4-FFF2-40B4-BE49-F238E27FC236}">
                <a16:creationId xmlns:a16="http://schemas.microsoft.com/office/drawing/2014/main" id="{DA167CA9-D94B-5A40-4848-095165438960}"/>
              </a:ext>
            </a:extLst>
          </p:cNvPr>
          <p:cNvPicPr>
            <a:picLocks noChangeAspect="1"/>
          </p:cNvPicPr>
          <p:nvPr/>
        </p:nvPicPr>
        <p:blipFill>
          <a:blip r:embed="rId3"/>
          <a:stretch>
            <a:fillRect/>
          </a:stretch>
        </p:blipFill>
        <p:spPr>
          <a:xfrm>
            <a:off x="4446270" y="3213848"/>
            <a:ext cx="7313252" cy="3127247"/>
          </a:xfrm>
          <a:prstGeom prst="rect">
            <a:avLst/>
          </a:prstGeom>
        </p:spPr>
      </p:pic>
    </p:spTree>
    <p:extLst>
      <p:ext uri="{BB962C8B-B14F-4D97-AF65-F5344CB8AC3E}">
        <p14:creationId xmlns:p14="http://schemas.microsoft.com/office/powerpoint/2010/main" val="3035156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FAC6-3E0B-5DEB-0383-D0AB9750CCE3}"/>
              </a:ext>
            </a:extLst>
          </p:cNvPr>
          <p:cNvSpPr>
            <a:spLocks noGrp="1"/>
          </p:cNvSpPr>
          <p:nvPr>
            <p:ph type="title"/>
          </p:nvPr>
        </p:nvSpPr>
        <p:spPr/>
        <p:txBody>
          <a:bodyPr/>
          <a:lstStyle/>
          <a:p>
            <a:r>
              <a:rPr lang="en-GB" dirty="0"/>
              <a:t>Dashboards</a:t>
            </a:r>
          </a:p>
        </p:txBody>
      </p:sp>
      <p:pic>
        <p:nvPicPr>
          <p:cNvPr id="6" name="Content Placeholder 5">
            <a:extLst>
              <a:ext uri="{FF2B5EF4-FFF2-40B4-BE49-F238E27FC236}">
                <a16:creationId xmlns:a16="http://schemas.microsoft.com/office/drawing/2014/main" id="{F53DD0B5-0A1C-7919-378C-384AE9C380A0}"/>
              </a:ext>
            </a:extLst>
          </p:cNvPr>
          <p:cNvPicPr>
            <a:picLocks noGrp="1" noChangeAspect="1"/>
          </p:cNvPicPr>
          <p:nvPr>
            <p:ph sz="half" idx="1"/>
          </p:nvPr>
        </p:nvPicPr>
        <p:blipFill>
          <a:blip r:embed="rId2"/>
          <a:stretch>
            <a:fillRect/>
          </a:stretch>
        </p:blipFill>
        <p:spPr>
          <a:xfrm>
            <a:off x="577111" y="1631315"/>
            <a:ext cx="5518890" cy="4351338"/>
          </a:xfrm>
        </p:spPr>
      </p:pic>
      <p:pic>
        <p:nvPicPr>
          <p:cNvPr id="8" name="Picture 7">
            <a:extLst>
              <a:ext uri="{FF2B5EF4-FFF2-40B4-BE49-F238E27FC236}">
                <a16:creationId xmlns:a16="http://schemas.microsoft.com/office/drawing/2014/main" id="{40BDFC9D-45C2-9752-65F1-791C49CBE5DA}"/>
              </a:ext>
            </a:extLst>
          </p:cNvPr>
          <p:cNvPicPr>
            <a:picLocks noChangeAspect="1"/>
          </p:cNvPicPr>
          <p:nvPr/>
        </p:nvPicPr>
        <p:blipFill>
          <a:blip r:embed="rId3"/>
          <a:stretch>
            <a:fillRect/>
          </a:stretch>
        </p:blipFill>
        <p:spPr>
          <a:xfrm>
            <a:off x="6537960" y="1638488"/>
            <a:ext cx="5360670" cy="4351339"/>
          </a:xfrm>
          <a:prstGeom prst="rect">
            <a:avLst/>
          </a:prstGeom>
        </p:spPr>
      </p:pic>
    </p:spTree>
    <p:extLst>
      <p:ext uri="{BB962C8B-B14F-4D97-AF65-F5344CB8AC3E}">
        <p14:creationId xmlns:p14="http://schemas.microsoft.com/office/powerpoint/2010/main" val="311566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BFF72198-DD70-4121-7D9A-AD09971BE351}"/>
              </a:ext>
            </a:extLst>
          </p:cNvPr>
          <p:cNvSpPr>
            <a:spLocks noGrp="1"/>
          </p:cNvSpPr>
          <p:nvPr>
            <p:ph type="title"/>
          </p:nvPr>
        </p:nvSpPr>
        <p:spPr>
          <a:xfrm>
            <a:off x="2857500" y="301752"/>
            <a:ext cx="8503920" cy="960120"/>
          </a:xfrm>
        </p:spPr>
        <p:txBody>
          <a:bodyPr/>
          <a:lstStyle/>
          <a:p>
            <a:r>
              <a:rPr lang="en-US" dirty="0"/>
              <a:t>Dashboard</a:t>
            </a:r>
          </a:p>
        </p:txBody>
      </p:sp>
      <p:pic>
        <p:nvPicPr>
          <p:cNvPr id="10" name="Content Placeholder 9">
            <a:extLst>
              <a:ext uri="{FF2B5EF4-FFF2-40B4-BE49-F238E27FC236}">
                <a16:creationId xmlns:a16="http://schemas.microsoft.com/office/drawing/2014/main" id="{D3C71658-A0E8-627B-78EA-83292121EE54}"/>
              </a:ext>
            </a:extLst>
          </p:cNvPr>
          <p:cNvPicPr>
            <a:picLocks noGrp="1" noChangeAspect="1"/>
          </p:cNvPicPr>
          <p:nvPr>
            <p:ph sz="half" idx="1"/>
          </p:nvPr>
        </p:nvPicPr>
        <p:blipFill>
          <a:blip r:embed="rId2"/>
          <a:srcRect r="7412" b="-3"/>
          <a:stretch/>
        </p:blipFill>
        <p:spPr>
          <a:xfrm>
            <a:off x="644560" y="1567441"/>
            <a:ext cx="11142649" cy="4464000"/>
          </a:xfrm>
          <a:noFill/>
        </p:spPr>
      </p:pic>
    </p:spTree>
    <p:extLst>
      <p:ext uri="{BB962C8B-B14F-4D97-AF65-F5344CB8AC3E}">
        <p14:creationId xmlns:p14="http://schemas.microsoft.com/office/powerpoint/2010/main" val="1406234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C04CC-7A04-9BAE-4D72-89646D74125B}"/>
              </a:ext>
            </a:extLst>
          </p:cNvPr>
          <p:cNvSpPr>
            <a:spLocks noGrp="1"/>
          </p:cNvSpPr>
          <p:nvPr>
            <p:ph type="title"/>
          </p:nvPr>
        </p:nvSpPr>
        <p:spPr/>
        <p:txBody>
          <a:bodyPr/>
          <a:lstStyle/>
          <a:p>
            <a:r>
              <a:rPr lang="en-GB" dirty="0"/>
              <a:t>Universities Being Transparent </a:t>
            </a:r>
          </a:p>
        </p:txBody>
      </p:sp>
      <p:sp>
        <p:nvSpPr>
          <p:cNvPr id="3" name="Content Placeholder 2">
            <a:extLst>
              <a:ext uri="{FF2B5EF4-FFF2-40B4-BE49-F238E27FC236}">
                <a16:creationId xmlns:a16="http://schemas.microsoft.com/office/drawing/2014/main" id="{D3357157-9926-1282-43AB-B4EA92553BF1}"/>
              </a:ext>
            </a:extLst>
          </p:cNvPr>
          <p:cNvSpPr>
            <a:spLocks noGrp="1"/>
          </p:cNvSpPr>
          <p:nvPr>
            <p:ph sz="half" idx="1"/>
          </p:nvPr>
        </p:nvSpPr>
        <p:spPr>
          <a:xfrm>
            <a:off x="838200" y="1825625"/>
            <a:ext cx="10888980" cy="4351338"/>
          </a:xfrm>
        </p:spPr>
        <p:txBody>
          <a:bodyPr>
            <a:normAutofit fontScale="92500"/>
          </a:bodyPr>
          <a:lstStyle/>
          <a:p>
            <a:pPr marL="0" indent="0">
              <a:buNone/>
            </a:pPr>
            <a:r>
              <a:rPr lang="en-GB" dirty="0">
                <a:latin typeface="Times New Roman" panose="02020603050405020304" pitchFamily="18" charset="0"/>
                <a:cs typeface="Times New Roman" panose="02020603050405020304" pitchFamily="18" charset="0"/>
              </a:rPr>
              <a:t>The increase or decrease in waitlist admissions is a critical phenomenon influenced by various factors, including:</a:t>
            </a:r>
          </a:p>
          <a:p>
            <a:pPr>
              <a:buFont typeface="Wingdings" panose="05000000000000000000" pitchFamily="2" charset="2"/>
              <a:buChar char="v"/>
            </a:pPr>
            <a:r>
              <a:rPr lang="en-GB" b="1" dirty="0">
                <a:latin typeface="Times New Roman" panose="02020603050405020304" pitchFamily="18" charset="0"/>
                <a:cs typeface="Times New Roman" panose="02020603050405020304" pitchFamily="18" charset="0"/>
              </a:rPr>
              <a:t>Departments within Universities</a:t>
            </a:r>
            <a:r>
              <a:rPr lang="en-GB" dirty="0">
                <a:latin typeface="Times New Roman" panose="02020603050405020304" pitchFamily="18" charset="0"/>
                <a:cs typeface="Times New Roman" panose="02020603050405020304" pitchFamily="18" charset="0"/>
              </a:rPr>
              <a:t>: The selection of students from the waitlist often depends significantly on the specific departments within universities.</a:t>
            </a:r>
          </a:p>
          <a:p>
            <a:pPr>
              <a:buFont typeface="Wingdings" panose="05000000000000000000" pitchFamily="2" charset="2"/>
              <a:buChar char="v"/>
            </a:pPr>
            <a:r>
              <a:rPr lang="en-GB" sz="2800" b="1" dirty="0">
                <a:latin typeface="Times New Roman" panose="02020603050405020304" pitchFamily="18" charset="0"/>
                <a:cs typeface="Times New Roman" panose="02020603050405020304" pitchFamily="18" charset="0"/>
              </a:rPr>
              <a:t>Expansion of Departments</a:t>
            </a:r>
            <a:r>
              <a:rPr lang="en-GB" dirty="0">
                <a:latin typeface="Times New Roman" panose="02020603050405020304" pitchFamily="18" charset="0"/>
                <a:cs typeface="Times New Roman" panose="02020603050405020304" pitchFamily="18" charset="0"/>
              </a:rPr>
              <a:t>: Universities expanding certain departments may admit more students from their waitlists to accommodate increased capacity or to fill positions in newly funded programs.</a:t>
            </a:r>
          </a:p>
          <a:p>
            <a:pPr>
              <a:buFont typeface="Wingdings" panose="05000000000000000000" pitchFamily="2" charset="2"/>
              <a:buChar char="v"/>
            </a:pPr>
            <a:r>
              <a:rPr lang="en-GB" sz="2800" b="1" dirty="0">
                <a:latin typeface="Times New Roman" panose="02020603050405020304" pitchFamily="18" charset="0"/>
                <a:cs typeface="Times New Roman" panose="02020603050405020304" pitchFamily="18" charset="0"/>
              </a:rPr>
              <a:t>Budget Constraints</a:t>
            </a:r>
            <a:r>
              <a:rPr lang="en-GB" sz="280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Budget cuts or reduced funding in specific departments can lead to fewer admissions, resulting in a corresponding decrease in waitlist offers for those programs.</a:t>
            </a:r>
          </a:p>
          <a:p>
            <a:endParaRPr lang="en-GB" dirty="0"/>
          </a:p>
        </p:txBody>
      </p:sp>
    </p:spTree>
    <p:extLst>
      <p:ext uri="{BB962C8B-B14F-4D97-AF65-F5344CB8AC3E}">
        <p14:creationId xmlns:p14="http://schemas.microsoft.com/office/powerpoint/2010/main" val="124576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8C46E-1EF5-34E8-8F28-7C3A05922629}"/>
              </a:ext>
            </a:extLst>
          </p:cNvPr>
          <p:cNvSpPr>
            <a:spLocks noGrp="1"/>
          </p:cNvSpPr>
          <p:nvPr>
            <p:ph type="title"/>
          </p:nvPr>
        </p:nvSpPr>
        <p:spPr/>
        <p:txBody>
          <a:bodyPr/>
          <a:lstStyle/>
          <a:p>
            <a:r>
              <a:rPr lang="en-GB" dirty="0"/>
              <a:t>Example of R1 </a:t>
            </a:r>
            <a:r>
              <a:rPr lang="en-GB" dirty="0" err="1"/>
              <a:t>univeristies</a:t>
            </a:r>
            <a:endParaRPr lang="en-GB" dirty="0"/>
          </a:p>
        </p:txBody>
      </p:sp>
      <p:sp>
        <p:nvSpPr>
          <p:cNvPr id="3" name="Content Placeholder 2">
            <a:extLst>
              <a:ext uri="{FF2B5EF4-FFF2-40B4-BE49-F238E27FC236}">
                <a16:creationId xmlns:a16="http://schemas.microsoft.com/office/drawing/2014/main" id="{FC7F4322-C6BA-F020-A5AF-B40A4DF38FEB}"/>
              </a:ext>
            </a:extLst>
          </p:cNvPr>
          <p:cNvSpPr>
            <a:spLocks noGrp="1"/>
          </p:cNvSpPr>
          <p:nvPr>
            <p:ph sz="half" idx="1"/>
          </p:nvPr>
        </p:nvSpPr>
        <p:spPr>
          <a:xfrm>
            <a:off x="473336" y="1825625"/>
            <a:ext cx="11276704" cy="4351338"/>
          </a:xfrm>
        </p:spPr>
        <p:txBody>
          <a:bodyPr>
            <a:normAutofit lnSpcReduction="10000"/>
          </a:bodyPr>
          <a:lstStyle/>
          <a:p>
            <a:pPr>
              <a:buFont typeface="Wingdings" panose="05000000000000000000" pitchFamily="2" charset="2"/>
              <a:buChar char="v"/>
            </a:pPr>
            <a:r>
              <a:rPr lang="en-GB" b="1" dirty="0"/>
              <a:t>University of Michigan</a:t>
            </a:r>
            <a:r>
              <a:rPr lang="en-GB" dirty="0"/>
              <a:t>:</a:t>
            </a:r>
          </a:p>
          <a:p>
            <a:pPr marL="0" indent="0">
              <a:buNone/>
            </a:pPr>
            <a:r>
              <a:rPr lang="en-GB" dirty="0"/>
              <a:t>The expansion of engineering and computer science programs has led to the strategic use of waitlists to ensure diverse and qualified cohorts.</a:t>
            </a:r>
          </a:p>
          <a:p>
            <a:pPr>
              <a:buFont typeface="Wingdings" panose="05000000000000000000" pitchFamily="2" charset="2"/>
              <a:buChar char="v"/>
            </a:pPr>
            <a:r>
              <a:rPr lang="en-GB" b="1" dirty="0"/>
              <a:t>University of California, Berkeley</a:t>
            </a:r>
            <a:r>
              <a:rPr lang="en-GB" dirty="0"/>
              <a:t>:</a:t>
            </a:r>
          </a:p>
          <a:p>
            <a:pPr marL="0" indent="0">
              <a:buNone/>
            </a:pPr>
            <a:r>
              <a:rPr lang="en-GB" dirty="0"/>
              <a:t>Budget cuts to humanities departments led to fewer spots and limited movement on those programs’ waitlists, while STEM programs saw increased offers.</a:t>
            </a:r>
          </a:p>
          <a:p>
            <a:pPr>
              <a:buFont typeface="Wingdings" panose="05000000000000000000" pitchFamily="2" charset="2"/>
              <a:buChar char="v"/>
            </a:pPr>
            <a:r>
              <a:rPr lang="en-GB" b="1" dirty="0"/>
              <a:t>Carnegie Mellon University</a:t>
            </a:r>
            <a:r>
              <a:rPr lang="en-GB" dirty="0"/>
              <a:t>:</a:t>
            </a:r>
          </a:p>
          <a:p>
            <a:pPr marL="0" indent="0">
              <a:buNone/>
            </a:pPr>
            <a:r>
              <a:rPr lang="en-GB" dirty="0"/>
              <a:t>A strong focus on computer science and AI resulted in higher waitlist pull rates for those departments to keep pace with industry trends and demand.</a:t>
            </a:r>
          </a:p>
          <a:p>
            <a:endParaRPr lang="en-GB" dirty="0"/>
          </a:p>
        </p:txBody>
      </p:sp>
    </p:spTree>
    <p:extLst>
      <p:ext uri="{BB962C8B-B14F-4D97-AF65-F5344CB8AC3E}">
        <p14:creationId xmlns:p14="http://schemas.microsoft.com/office/powerpoint/2010/main" val="2421108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5EF2-5624-3925-00AC-89EA496DF0B9}"/>
              </a:ext>
            </a:extLst>
          </p:cNvPr>
          <p:cNvSpPr>
            <a:spLocks noGrp="1"/>
          </p:cNvSpPr>
          <p:nvPr>
            <p:ph type="title"/>
          </p:nvPr>
        </p:nvSpPr>
        <p:spPr/>
        <p:txBody>
          <a:bodyPr/>
          <a:lstStyle/>
          <a:p>
            <a:r>
              <a:rPr lang="en-GB" dirty="0"/>
              <a:t>Conclusion</a:t>
            </a:r>
          </a:p>
        </p:txBody>
      </p:sp>
      <p:sp>
        <p:nvSpPr>
          <p:cNvPr id="6" name="Content Placeholder 3">
            <a:extLst>
              <a:ext uri="{FF2B5EF4-FFF2-40B4-BE49-F238E27FC236}">
                <a16:creationId xmlns:a16="http://schemas.microsoft.com/office/drawing/2014/main" id="{25D0899C-8DDE-67BA-5070-010A1097CA7B}"/>
              </a:ext>
            </a:extLst>
          </p:cNvPr>
          <p:cNvSpPr>
            <a:spLocks noGrp="1"/>
          </p:cNvSpPr>
          <p:nvPr>
            <p:ph sz="half" idx="1"/>
          </p:nvPr>
        </p:nvSpPr>
        <p:spPr>
          <a:xfrm>
            <a:off x="215153" y="1624405"/>
            <a:ext cx="11976847" cy="4552558"/>
          </a:xfrm>
        </p:spPr>
        <p:txBody>
          <a:bodyPr>
            <a:normAutofit/>
          </a:bodyPr>
          <a:lstStyle/>
          <a:p>
            <a:pPr>
              <a:buFont typeface="Wingdings" panose="05000000000000000000" pitchFamily="2" charset="2"/>
              <a:buChar char="v"/>
            </a:pPr>
            <a:r>
              <a:rPr lang="en-GB" dirty="0"/>
              <a:t>This project provides a comprehensive analysis of trends in university waitlist admissions over the past five years, focusing on the impact of the COVID-19 pandemic. </a:t>
            </a:r>
          </a:p>
          <a:p>
            <a:pPr>
              <a:buFont typeface="Wingdings" panose="05000000000000000000" pitchFamily="2" charset="2"/>
              <a:buChar char="v"/>
            </a:pPr>
            <a:endParaRPr lang="en-GB" dirty="0"/>
          </a:p>
          <a:p>
            <a:pPr>
              <a:buFont typeface="Wingdings" panose="05000000000000000000" pitchFamily="2" charset="2"/>
              <a:buChar char="v"/>
            </a:pPr>
            <a:r>
              <a:rPr lang="en-GB" dirty="0"/>
              <a:t>The data revealed a sharp increase in waitlist activity during 2020, driven by </a:t>
            </a:r>
            <a:r>
              <a:rPr lang="en-GB" dirty="0" err="1"/>
              <a:t>enrollment</a:t>
            </a:r>
            <a:r>
              <a:rPr lang="en-GB" dirty="0"/>
              <a:t> uncertainties and the pandemic's influence on student decisions. </a:t>
            </a:r>
          </a:p>
          <a:p>
            <a:pPr>
              <a:buFont typeface="Wingdings" panose="05000000000000000000" pitchFamily="2" charset="2"/>
              <a:buChar char="v"/>
            </a:pPr>
            <a:endParaRPr lang="en-GB" dirty="0"/>
          </a:p>
          <a:p>
            <a:pPr>
              <a:buFont typeface="Wingdings" panose="05000000000000000000" pitchFamily="2" charset="2"/>
              <a:buChar char="v"/>
            </a:pPr>
            <a:r>
              <a:rPr lang="en-GB" dirty="0"/>
              <a:t>However, the subsequent years show a return to pre-pandemic patterns, indicating improved predictability in university admissions processes</a:t>
            </a:r>
          </a:p>
        </p:txBody>
      </p:sp>
    </p:spTree>
    <p:extLst>
      <p:ext uri="{BB962C8B-B14F-4D97-AF65-F5344CB8AC3E}">
        <p14:creationId xmlns:p14="http://schemas.microsoft.com/office/powerpoint/2010/main" val="3358765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C396-75EC-6420-2FAF-7BC784955365}"/>
              </a:ext>
            </a:extLst>
          </p:cNvPr>
          <p:cNvSpPr>
            <a:spLocks noGrp="1"/>
          </p:cNvSpPr>
          <p:nvPr>
            <p:ph type="title"/>
          </p:nvPr>
        </p:nvSpPr>
        <p:spPr/>
        <p:txBody>
          <a:bodyPr/>
          <a:lstStyle/>
          <a:p>
            <a:r>
              <a:rPr lang="en-GB" dirty="0"/>
              <a:t>Conclusion </a:t>
            </a:r>
          </a:p>
        </p:txBody>
      </p:sp>
      <p:sp>
        <p:nvSpPr>
          <p:cNvPr id="3" name="Content Placeholder 2">
            <a:extLst>
              <a:ext uri="{FF2B5EF4-FFF2-40B4-BE49-F238E27FC236}">
                <a16:creationId xmlns:a16="http://schemas.microsoft.com/office/drawing/2014/main" id="{770693A6-E6AA-2AD9-6A62-B2C86E4F9634}"/>
              </a:ext>
            </a:extLst>
          </p:cNvPr>
          <p:cNvSpPr>
            <a:spLocks noGrp="1"/>
          </p:cNvSpPr>
          <p:nvPr>
            <p:ph sz="half" idx="1"/>
          </p:nvPr>
        </p:nvSpPr>
        <p:spPr>
          <a:xfrm>
            <a:off x="281491" y="1635162"/>
            <a:ext cx="11629017" cy="4810742"/>
          </a:xfrm>
        </p:spPr>
        <p:txBody>
          <a:bodyPr>
            <a:normAutofit/>
          </a:bodyPr>
          <a:lstStyle/>
          <a:p>
            <a:pPr>
              <a:buFont typeface="Wingdings" panose="05000000000000000000" pitchFamily="2" charset="2"/>
              <a:buChar char="v"/>
            </a:pPr>
            <a:r>
              <a:rPr lang="en-GB" dirty="0"/>
              <a:t>It highlights the importance of transparent university data and offers actionable insights for universities and prospective students.</a:t>
            </a:r>
          </a:p>
          <a:p>
            <a:pPr marL="0" indent="0">
              <a:buNone/>
            </a:pPr>
            <a:r>
              <a:rPr lang="en-GB" dirty="0"/>
              <a:t> </a:t>
            </a:r>
          </a:p>
          <a:p>
            <a:pPr>
              <a:buFont typeface="Wingdings" panose="05000000000000000000" pitchFamily="2" charset="2"/>
              <a:buChar char="v"/>
            </a:pPr>
            <a:r>
              <a:rPr lang="en-GB" dirty="0"/>
              <a:t>Universities can optimize their admissions strategies, while students can make more informed choices based on program-specific trends. </a:t>
            </a:r>
          </a:p>
          <a:p>
            <a:pPr marL="0" indent="0">
              <a:buNone/>
            </a:pPr>
            <a:endParaRPr lang="en-GB" dirty="0"/>
          </a:p>
          <a:p>
            <a:pPr>
              <a:buFont typeface="Wingdings" panose="05000000000000000000" pitchFamily="2" charset="2"/>
              <a:buChar char="v"/>
            </a:pPr>
            <a:r>
              <a:rPr lang="en-GB" dirty="0"/>
              <a:t>This analysis underscores the evolving dynamics of university admissions and sets the stage for more data-driven decision-making in higher education.</a:t>
            </a:r>
          </a:p>
          <a:p>
            <a:endParaRPr lang="en-GB" dirty="0"/>
          </a:p>
        </p:txBody>
      </p:sp>
    </p:spTree>
    <p:extLst>
      <p:ext uri="{BB962C8B-B14F-4D97-AF65-F5344CB8AC3E}">
        <p14:creationId xmlns:p14="http://schemas.microsoft.com/office/powerpoint/2010/main" val="128602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0DF8-017B-7948-01DC-88D995AB8F98}"/>
              </a:ext>
            </a:extLst>
          </p:cNvPr>
          <p:cNvSpPr>
            <a:spLocks noGrp="1"/>
          </p:cNvSpPr>
          <p:nvPr>
            <p:ph type="title"/>
          </p:nvPr>
        </p:nvSpPr>
        <p:spPr/>
        <p:txBody>
          <a:bodyPr/>
          <a:lstStyle/>
          <a:p>
            <a:r>
              <a:rPr lang="en-GB" dirty="0"/>
              <a:t>Thank you</a:t>
            </a:r>
          </a:p>
        </p:txBody>
      </p:sp>
      <p:sp>
        <p:nvSpPr>
          <p:cNvPr id="3" name="Content Placeholder 2">
            <a:extLst>
              <a:ext uri="{FF2B5EF4-FFF2-40B4-BE49-F238E27FC236}">
                <a16:creationId xmlns:a16="http://schemas.microsoft.com/office/drawing/2014/main" id="{B885D9FB-CD6B-ED19-5FD5-83E020FCC1D4}"/>
              </a:ext>
            </a:extLst>
          </p:cNvPr>
          <p:cNvSpPr>
            <a:spLocks noGrp="1"/>
          </p:cNvSpPr>
          <p:nvPr>
            <p:ph sz="half" idx="1"/>
          </p:nvPr>
        </p:nvSpPr>
        <p:spPr>
          <a:xfrm>
            <a:off x="838200" y="1825625"/>
            <a:ext cx="7036398" cy="4351338"/>
          </a:xfrm>
        </p:spPr>
        <p:txBody>
          <a:bodyPr>
            <a:normAutofit/>
          </a:bodyPr>
          <a:lstStyle/>
          <a:p>
            <a:pPr marL="0" indent="0">
              <a:buNone/>
            </a:pPr>
            <a:endParaRPr lang="en-GB" sz="4400" dirty="0"/>
          </a:p>
          <a:p>
            <a:pPr marL="0" indent="0">
              <a:buNone/>
            </a:pPr>
            <a:endParaRPr lang="en-GB" sz="4400" dirty="0"/>
          </a:p>
          <a:p>
            <a:pPr marL="0" indent="0">
              <a:buNone/>
            </a:pPr>
            <a:r>
              <a:rPr lang="en-GB" sz="4400" dirty="0"/>
              <a:t>                       Any questions</a:t>
            </a:r>
          </a:p>
        </p:txBody>
      </p:sp>
      <p:sp>
        <p:nvSpPr>
          <p:cNvPr id="4" name="Content Placeholder 3">
            <a:extLst>
              <a:ext uri="{FF2B5EF4-FFF2-40B4-BE49-F238E27FC236}">
                <a16:creationId xmlns:a16="http://schemas.microsoft.com/office/drawing/2014/main" id="{27B9291E-AE89-9FF2-CC96-AB2CAAAAD288}"/>
              </a:ext>
            </a:extLst>
          </p:cNvPr>
          <p:cNvSpPr>
            <a:spLocks noGrp="1"/>
          </p:cNvSpPr>
          <p:nvPr>
            <p:ph sz="half" idx="2"/>
          </p:nvPr>
        </p:nvSpPr>
        <p:spPr>
          <a:xfrm>
            <a:off x="8089750" y="1825625"/>
            <a:ext cx="3264049" cy="4351338"/>
          </a:xfrm>
        </p:spPr>
        <p:txBody>
          <a:bodyPr/>
          <a:lstStyle/>
          <a:p>
            <a:endParaRPr lang="en-GB" dirty="0"/>
          </a:p>
        </p:txBody>
      </p:sp>
    </p:spTree>
    <p:extLst>
      <p:ext uri="{BB962C8B-B14F-4D97-AF65-F5344CB8AC3E}">
        <p14:creationId xmlns:p14="http://schemas.microsoft.com/office/powerpoint/2010/main" val="3942412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C9BBC-AFEF-6D4B-47AD-75B22B8E43A3}"/>
              </a:ext>
            </a:extLst>
          </p:cNvPr>
          <p:cNvSpPr>
            <a:spLocks noGrp="1"/>
          </p:cNvSpPr>
          <p:nvPr>
            <p:ph type="title"/>
          </p:nvPr>
        </p:nvSpPr>
        <p:spPr/>
        <p:txBody>
          <a:bodyPr/>
          <a:lstStyle/>
          <a:p>
            <a:r>
              <a:rPr lang="en-GB" dirty="0"/>
              <a:t>References </a:t>
            </a:r>
          </a:p>
        </p:txBody>
      </p:sp>
      <p:sp>
        <p:nvSpPr>
          <p:cNvPr id="3" name="Content Placeholder 2">
            <a:extLst>
              <a:ext uri="{FF2B5EF4-FFF2-40B4-BE49-F238E27FC236}">
                <a16:creationId xmlns:a16="http://schemas.microsoft.com/office/drawing/2014/main" id="{05251BC3-9C0A-C91B-B90B-DC08C2E5A9CF}"/>
              </a:ext>
            </a:extLst>
          </p:cNvPr>
          <p:cNvSpPr>
            <a:spLocks noGrp="1"/>
          </p:cNvSpPr>
          <p:nvPr>
            <p:ph sz="half" idx="1"/>
          </p:nvPr>
        </p:nvSpPr>
        <p:spPr>
          <a:xfrm>
            <a:off x="838200" y="1825625"/>
            <a:ext cx="11353800" cy="4351338"/>
          </a:xfrm>
        </p:spPr>
        <p:txBody>
          <a:bodyPr/>
          <a:lstStyle/>
          <a:p>
            <a:r>
              <a:rPr lang="en-GB" dirty="0">
                <a:hlinkClick r:id="rId2"/>
              </a:rPr>
              <a:t>https://www.michigandaily.com/news/academics/students-discuss-frustrations-long-waitlists-upper-level-computer-science-classes/</a:t>
            </a:r>
            <a:endParaRPr lang="en-GB" dirty="0"/>
          </a:p>
          <a:p>
            <a:r>
              <a:rPr lang="en-GB" dirty="0">
                <a:hlinkClick r:id="rId3"/>
              </a:rPr>
              <a:t>https://edsource.org/2024/budget-cuts-begin-to-surface-at-california-state-university/718699</a:t>
            </a:r>
            <a:endParaRPr lang="en-GB" dirty="0"/>
          </a:p>
          <a:p>
            <a:r>
              <a:rPr lang="en-GB" dirty="0"/>
              <a:t>https://ai.cmu.edu/</a:t>
            </a:r>
          </a:p>
        </p:txBody>
      </p:sp>
    </p:spTree>
    <p:extLst>
      <p:ext uri="{BB962C8B-B14F-4D97-AF65-F5344CB8AC3E}">
        <p14:creationId xmlns:p14="http://schemas.microsoft.com/office/powerpoint/2010/main" val="2823943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signmentsAssessmentGradingCheating" id="{AE6392FE-4306-BC41-81E8-E6708850800F}" vid="{544358C9-3339-414A-A6EA-3C9F5032DB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96D52E-A554-4334-8132-78AE54FADE0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188D98EBDF22F46BD7279CABA5B208E" ma:contentTypeVersion="0" ma:contentTypeDescription="Create a new document." ma:contentTypeScope="" ma:versionID="8bb6902cfa2ef6cd794570a8a029f9f6">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F263B9-063A-480F-B8CD-265592A4B39C}">
  <ds:schemaRefs>
    <ds:schemaRef ds:uri="http://schemas.microsoft.com/sharepoint/v3/contenttype/forms"/>
  </ds:schemaRefs>
</ds:datastoreItem>
</file>

<file path=customXml/itemProps2.xml><?xml version="1.0" encoding="utf-8"?>
<ds:datastoreItem xmlns:ds="http://schemas.openxmlformats.org/officeDocument/2006/customXml" ds:itemID="{D703256C-C6D7-45EF-B493-3F2DE4B57704}">
  <ds:schemaRefs>
    <ds:schemaRef ds:uri="http://schemas.microsoft.com/office/2006/metadata/properties"/>
    <ds:schemaRef ds:uri="http://schemas.microsoft.com/office/infopath/2007/PartnerControls"/>
    <ds:schemaRef ds:uri="7629f64e-04a7-44e1-8d48-ae92c04ebc60"/>
  </ds:schemaRefs>
</ds:datastoreItem>
</file>

<file path=customXml/itemProps3.xml><?xml version="1.0" encoding="utf-8"?>
<ds:datastoreItem xmlns:ds="http://schemas.openxmlformats.org/officeDocument/2006/customXml" ds:itemID="{41557FC9-4AFC-4EA7-BF2E-B010127A64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52321</TotalTime>
  <Words>1704</Words>
  <Application>Microsoft Office PowerPoint</Application>
  <PresentationFormat>Widescreen</PresentationFormat>
  <Paragraphs>191</Paragraphs>
  <Slides>34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 Serif</vt:lpstr>
      <vt:lpstr>Arial</vt:lpstr>
      <vt:lpstr>Calibri</vt:lpstr>
      <vt:lpstr>Calibri Light</vt:lpstr>
      <vt:lpstr>Dutch801 Rm BT</vt:lpstr>
      <vt:lpstr>Times New Roman</vt:lpstr>
      <vt:lpstr>Wingdings</vt:lpstr>
      <vt:lpstr>Office Theme</vt:lpstr>
      <vt:lpstr>The chronicles of Higher Education</vt:lpstr>
      <vt:lpstr>Introduction</vt:lpstr>
      <vt:lpstr>Objective</vt:lpstr>
      <vt:lpstr>Data Collection</vt:lpstr>
      <vt:lpstr>Dataset</vt:lpstr>
      <vt:lpstr>Initial Goals</vt:lpstr>
      <vt:lpstr>Results</vt:lpstr>
      <vt:lpstr>Analysis</vt:lpstr>
      <vt:lpstr>Graph</vt:lpstr>
      <vt:lpstr>Reasons for this Increase</vt:lpstr>
      <vt:lpstr>Classification</vt:lpstr>
      <vt:lpstr>Analysis</vt:lpstr>
      <vt:lpstr>LSTM</vt:lpstr>
      <vt:lpstr>LSTM model</vt:lpstr>
      <vt:lpstr>Evaluation and Results </vt:lpstr>
      <vt:lpstr>Results</vt:lpstr>
      <vt:lpstr>Insights</vt:lpstr>
      <vt:lpstr>Contd…</vt:lpstr>
      <vt:lpstr>Arima Model</vt:lpstr>
      <vt:lpstr>ADF test</vt:lpstr>
      <vt:lpstr>ACF and PACF</vt:lpstr>
      <vt:lpstr>ARIMA Model Results</vt:lpstr>
      <vt:lpstr>SARIMA</vt:lpstr>
      <vt:lpstr>Steps that can help Students Choose the Right University</vt:lpstr>
      <vt:lpstr>Contd..</vt:lpstr>
      <vt:lpstr>Prototype for the user</vt:lpstr>
      <vt:lpstr>Dashboards</vt:lpstr>
      <vt:lpstr>Dashboard</vt:lpstr>
      <vt:lpstr>Universities Being Transparent </vt:lpstr>
      <vt:lpstr>Example of R1 univeristies</vt:lpstr>
      <vt:lpstr>Conclusion</vt:lpstr>
      <vt:lpstr>Conclusion </vt:lpstr>
      <vt:lpstr>Thank you</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Caleb</dc:creator>
  <cp:lastModifiedBy>Naveed, Raasikh</cp:lastModifiedBy>
  <cp:revision>76</cp:revision>
  <dcterms:created xsi:type="dcterms:W3CDTF">2018-06-18T13:40:31Z</dcterms:created>
  <dcterms:modified xsi:type="dcterms:W3CDTF">2024-12-03T23:08:57Z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0x0101006188D98EBDF22F46BD7279CABA5B208E</vt:lpwstr>
  </property>
</Properties>
</file>